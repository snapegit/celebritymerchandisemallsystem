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
  </p:handoutMasterIdLst>
  <p:sldIdLst>
    <p:sldId id="257" r:id="rId3"/>
    <p:sldId id="258" r:id="rId5"/>
    <p:sldId id="263" r:id="rId6"/>
    <p:sldId id="285" r:id="rId7"/>
    <p:sldId id="260" r:id="rId8"/>
    <p:sldId id="269" r:id="rId9"/>
    <p:sldId id="262" r:id="rId10"/>
    <p:sldId id="289" r:id="rId11"/>
    <p:sldId id="270" r:id="rId12"/>
    <p:sldId id="296" r:id="rId13"/>
    <p:sldId id="275" r:id="rId14"/>
    <p:sldId id="291" r:id="rId15"/>
    <p:sldId id="261" r:id="rId16"/>
    <p:sldId id="290" r:id="rId17"/>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2" userDrawn="1">
          <p15:clr>
            <a:srgbClr val="A4A3A4"/>
          </p15:clr>
        </p15:guide>
        <p15:guide id="2" pos="3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showPr>
  <p:clrMru>
    <a:srgbClr val="FFE7A1"/>
    <a:srgbClr val="E9C2A8"/>
    <a:srgbClr val="52ACA4"/>
    <a:srgbClr val="EA7D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6314" autoAdjust="0"/>
  </p:normalViewPr>
  <p:slideViewPr>
    <p:cSldViewPr snapToGrid="0" showGuides="1">
      <p:cViewPr varScale="1">
        <p:scale>
          <a:sx n="58" d="100"/>
          <a:sy n="58" d="100"/>
        </p:scale>
        <p:origin x="-102" y="-1476"/>
      </p:cViewPr>
      <p:guideLst>
        <p:guide orient="horz" pos="2292"/>
        <p:guide pos="3884"/>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3.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9FAD2-C787-4B04-8F17-05AD4903D5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90C2E8-1996-4DF0-AFF3-54BB78806BB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590C2E8-1996-4DF0-AFF3-54BB78806BB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C575D7-2957-4645-9B32-3AB792DEACF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C575D7-2957-4645-9B32-3AB792DEACF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49"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C575D7-2957-4645-9B32-3AB792DEACF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2C575D7-2957-4645-9B32-3AB792DEACF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2C575D7-2957-4645-9B32-3AB792DEACF6}" type="slidenum">
              <a:rPr lang="zh-CN" altLang="en-US" smtClean="0"/>
            </a:fld>
            <a:endParaRPr lang="zh-CN" altLang="en-US"/>
          </a:p>
        </p:txBody>
      </p:sp>
      <p:sp>
        <p:nvSpPr>
          <p:cNvPr id="11" name="矩形 10"/>
          <p:cNvSpPr/>
          <p:nvPr userDrawn="1"/>
        </p:nvSpPr>
        <p:spPr>
          <a:xfrm>
            <a:off x="9533542" y="6430009"/>
            <a:ext cx="775136" cy="230832"/>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模板下载：</a:t>
            </a:r>
            <a:r>
              <a:rPr kumimoji="0" lang="en-US" altLang="zh-CN" sz="100" b="0" i="0" u="none" strike="noStrike" kern="0" cap="none" spc="0" normalizeH="0" baseline="0" noProof="0" dirty="0" smtClean="0">
                <a:ln>
                  <a:noFill/>
                </a:ln>
                <a:solidFill>
                  <a:prstClr val="white"/>
                </a:solidFill>
                <a:effectLst/>
                <a:uLnTx/>
                <a:uFillTx/>
              </a:rPr>
              <a:t>www.1ppt.com/moban/          </a:t>
            </a:r>
            <a:r>
              <a:rPr kumimoji="0" lang="zh-CN" altLang="en-US" sz="100" b="0" i="0" u="none" strike="noStrike" kern="0" cap="none" spc="0" normalizeH="0" baseline="0" noProof="0" dirty="0" smtClean="0">
                <a:ln>
                  <a:noFill/>
                </a:ln>
                <a:solidFill>
                  <a:prstClr val="white"/>
                </a:solidFill>
                <a:effectLst/>
                <a:uLnTx/>
                <a:uFillTx/>
              </a:rPr>
              <a:t>行业</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www.1ppt.com/hangye/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节日</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www.1ppt.com/jieri/          PPT</a:t>
            </a:r>
            <a:r>
              <a:rPr kumimoji="0" lang="zh-CN" altLang="en-US" sz="100" b="0" i="0" u="none" strike="noStrike" kern="0" cap="none" spc="0" normalizeH="0" baseline="0" noProof="0" dirty="0" smtClean="0">
                <a:ln>
                  <a:noFill/>
                </a:ln>
                <a:solidFill>
                  <a:prstClr val="white"/>
                </a:solidFill>
                <a:effectLst/>
                <a:uLnTx/>
                <a:uFillTx/>
              </a:rPr>
              <a:t>素材：</a:t>
            </a:r>
            <a:r>
              <a:rPr kumimoji="0" lang="en-US" altLang="zh-CN" sz="100" b="0" i="0" u="none" strike="noStrike" kern="0" cap="none" spc="0" normalizeH="0" baseline="0" noProof="0" dirty="0" smtClean="0">
                <a:ln>
                  <a:noFill/>
                </a:ln>
                <a:solidFill>
                  <a:prstClr val="white"/>
                </a:solidFill>
                <a:effectLst/>
                <a:uLnTx/>
                <a:uFillTx/>
              </a:rPr>
              <a:t>www.1ppt.com/sucai/</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背景图片：</a:t>
            </a:r>
            <a:r>
              <a:rPr kumimoji="0" lang="en-US" altLang="zh-CN" sz="100" b="0" i="0" u="none" strike="noStrike" kern="0" cap="none" spc="0" normalizeH="0" baseline="0" noProof="0" dirty="0" smtClean="0">
                <a:ln>
                  <a:noFill/>
                </a:ln>
                <a:solidFill>
                  <a:prstClr val="white"/>
                </a:solidFill>
                <a:effectLst/>
                <a:uLnTx/>
                <a:uFillTx/>
              </a:rPr>
              <a:t>www.1ppt.com/beijing/        PPT</a:t>
            </a:r>
            <a:r>
              <a:rPr kumimoji="0" lang="zh-CN" altLang="en-US" sz="100" b="0" i="0" u="none" strike="noStrike" kern="0" cap="none" spc="0" normalizeH="0" baseline="0" noProof="0" dirty="0" smtClean="0">
                <a:ln>
                  <a:noFill/>
                </a:ln>
                <a:solidFill>
                  <a:prstClr val="white"/>
                </a:solidFill>
                <a:effectLst/>
                <a:uLnTx/>
                <a:uFillTx/>
              </a:rPr>
              <a:t>图表：</a:t>
            </a:r>
            <a:r>
              <a:rPr kumimoji="0" lang="en-US" altLang="zh-CN" sz="100" b="0" i="0" u="none" strike="noStrike" kern="0" cap="none" spc="0" normalizeH="0" baseline="0" noProof="0" dirty="0" smtClean="0">
                <a:ln>
                  <a:noFill/>
                </a:ln>
                <a:solidFill>
                  <a:prstClr val="white"/>
                </a:solidFill>
                <a:effectLst/>
                <a:uLnTx/>
                <a:uFillTx/>
              </a:rPr>
              <a:t>www.1ppt.com/tubiao/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精美</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下载：</a:t>
            </a:r>
            <a:r>
              <a:rPr kumimoji="0" lang="en-US" altLang="zh-CN" sz="100" b="0" i="0" u="none" strike="noStrike" kern="0" cap="none" spc="0" normalizeH="0" baseline="0" noProof="0" dirty="0" smtClean="0">
                <a:ln>
                  <a:noFill/>
                </a:ln>
                <a:solidFill>
                  <a:prstClr val="white"/>
                </a:solidFill>
                <a:effectLst/>
                <a:uLnTx/>
                <a:uFillTx/>
              </a:rPr>
              <a:t>www.1ppt.com/xiazai/         PPT</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www.1ppt.com/powerpoint/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课件：</a:t>
            </a:r>
            <a:r>
              <a:rPr kumimoji="0" lang="en-US" altLang="zh-CN" sz="100" b="0" i="0" u="none" strike="noStrike" kern="0" cap="none" spc="0" normalizeH="0" baseline="0" noProof="0" dirty="0" smtClean="0">
                <a:ln>
                  <a:noFill/>
                </a:ln>
                <a:solidFill>
                  <a:prstClr val="white"/>
                </a:solidFill>
                <a:effectLst/>
                <a:uLnTx/>
                <a:uFillTx/>
              </a:rPr>
              <a:t>www.1ppt.com/kejian/             </a:t>
            </a:r>
            <a:r>
              <a:rPr kumimoji="0" lang="zh-CN" altLang="en-US" sz="100" b="0" i="0" u="none" strike="noStrike" kern="0" cap="none" spc="0" normalizeH="0" baseline="0" noProof="0" dirty="0" smtClean="0">
                <a:ln>
                  <a:noFill/>
                </a:ln>
                <a:solidFill>
                  <a:prstClr val="white"/>
                </a:solidFill>
                <a:effectLst/>
                <a:uLnTx/>
                <a:uFillTx/>
              </a:rPr>
              <a:t>字体下载：</a:t>
            </a:r>
            <a:r>
              <a:rPr kumimoji="0" lang="en-US" altLang="zh-CN" sz="100" b="0" i="0" u="none" strike="noStrike" kern="0" cap="none" spc="0" normalizeH="0" baseline="0" noProof="0" dirty="0" smtClean="0">
                <a:ln>
                  <a:noFill/>
                </a:ln>
                <a:solidFill>
                  <a:prstClr val="white"/>
                </a:solidFill>
                <a:effectLst/>
                <a:uLnTx/>
                <a:uFillTx/>
              </a:rPr>
              <a:t>www.1ppt.com/ziti/</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工作总结</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a:t>
            </a:r>
            <a:r>
              <a:rPr kumimoji="0" lang="en-US" altLang="zh-CN" sz="100" b="0" i="0" u="none" strike="noStrike" kern="0" cap="none" spc="0" normalizeH="0" baseline="0" noProof="0" dirty="0" smtClean="0">
                <a:ln>
                  <a:noFill/>
                </a:ln>
                <a:solidFill>
                  <a:prstClr val="white"/>
                </a:solidFill>
                <a:effectLst/>
                <a:uLnTx/>
                <a:uFillTx/>
              </a:rPr>
              <a:t>www.1ppt.com/xiazai/zongjie/ </a:t>
            </a:r>
            <a:r>
              <a:rPr kumimoji="0" lang="zh-CN" altLang="en-US" sz="100" b="0" i="0" u="none" strike="noStrike" kern="0" cap="none" spc="0" normalizeH="0" baseline="0" noProof="0" dirty="0" smtClean="0">
                <a:ln>
                  <a:noFill/>
                </a:ln>
                <a:solidFill>
                  <a:prstClr val="white"/>
                </a:solidFill>
                <a:effectLst/>
                <a:uLnTx/>
                <a:uFillTx/>
              </a:rPr>
              <a:t>工作计划：</a:t>
            </a:r>
            <a:r>
              <a:rPr kumimoji="0" lang="en-US" altLang="zh-CN" sz="100" b="0" i="0" u="none" strike="noStrike" kern="0" cap="none" spc="0" normalizeH="0" baseline="0" noProof="0" dirty="0" smtClean="0">
                <a:ln>
                  <a:noFill/>
                </a:ln>
                <a:solidFill>
                  <a:prstClr val="white"/>
                </a:solidFill>
                <a:effectLst/>
                <a:uLnTx/>
                <a:uFillTx/>
              </a:rPr>
              <a:t>www.1ppt.com/xiazai/jihua/</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商务</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www.1ppt.com/moban/shangwu/  </a:t>
            </a:r>
            <a:r>
              <a:rPr kumimoji="0" lang="zh-CN" altLang="en-US" sz="100" b="0" i="0" u="none" strike="noStrike" kern="0" cap="none" spc="0" normalizeH="0" baseline="0" noProof="0" dirty="0" smtClean="0">
                <a:ln>
                  <a:noFill/>
                </a:ln>
                <a:solidFill>
                  <a:prstClr val="white"/>
                </a:solidFill>
                <a:effectLst/>
                <a:uLnTx/>
                <a:uFillTx/>
              </a:rPr>
              <a:t>个人简历</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a:t>
            </a:r>
            <a:r>
              <a:rPr kumimoji="0" lang="en-US" altLang="zh-CN" sz="100" b="0" i="0" u="none" strike="noStrike" kern="0" cap="none" spc="0" normalizeH="0" baseline="0" noProof="0" dirty="0" smtClean="0">
                <a:ln>
                  <a:noFill/>
                </a:ln>
                <a:solidFill>
                  <a:prstClr val="white"/>
                </a:solidFill>
                <a:effectLst/>
                <a:uLnTx/>
                <a:uFillTx/>
              </a:rPr>
              <a:t>www.1ppt.com/xiazai/jianli/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毕业答辩</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a:t>
            </a:r>
            <a:r>
              <a:rPr kumimoji="0" lang="en-US" altLang="zh-CN" sz="100" b="0" i="0" u="none" strike="noStrike" kern="0" cap="none" spc="0" normalizeH="0" baseline="0" noProof="0" dirty="0" smtClean="0">
                <a:ln>
                  <a:noFill/>
                </a:ln>
                <a:solidFill>
                  <a:prstClr val="white"/>
                </a:solidFill>
                <a:effectLst/>
                <a:uLnTx/>
                <a:uFillTx/>
              </a:rPr>
              <a:t>www.1ppt.com/xiazai/dabian/  </a:t>
            </a:r>
            <a:r>
              <a:rPr kumimoji="0" lang="zh-CN" altLang="en-US" sz="100" b="0" i="0" u="none" strike="noStrike" kern="0" cap="none" spc="0" normalizeH="0" baseline="0" noProof="0" dirty="0" smtClean="0">
                <a:ln>
                  <a:noFill/>
                </a:ln>
                <a:solidFill>
                  <a:prstClr val="white"/>
                </a:solidFill>
                <a:effectLst/>
                <a:uLnTx/>
                <a:uFillTx/>
              </a:rPr>
              <a:t>工作汇报</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a:t>
            </a:r>
            <a:r>
              <a:rPr kumimoji="0" lang="en-US" altLang="zh-CN" sz="100" b="0" i="0" u="none" strike="noStrike" kern="0" cap="none" spc="0" normalizeH="0" baseline="0" noProof="0" dirty="0" smtClean="0">
                <a:ln>
                  <a:noFill/>
                </a:ln>
                <a:solidFill>
                  <a:prstClr val="white"/>
                </a:solidFill>
                <a:effectLst/>
                <a:uLnTx/>
                <a:uFillTx/>
              </a:rPr>
              <a:t>www.1ppt.com/xiazai/huibao/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 </a:t>
            </a:r>
            <a:endParaRPr kumimoji="0" lang="en-US" altLang="zh-CN" sz="100" b="0" i="0" u="none" strike="noStrike" kern="0" cap="none" spc="0" normalizeH="0" baseline="0" noProof="0" dirty="0" smtClean="0">
              <a:ln>
                <a:noFill/>
              </a:ln>
              <a:solidFill>
                <a:prstClr val="white"/>
              </a:solidFill>
              <a:effectLst/>
              <a:uLnTx/>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2C575D7-2957-4645-9B32-3AB792DEACF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2C575D7-2957-4645-9B32-3AB792DEACF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2C575D7-2957-4645-9B32-3AB792DEAC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2C575D7-2957-4645-9B32-3AB792DEACF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C575D7-2957-4645-9B32-3AB792DEACF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951568F-8CED-43BA-90A6-A0ACCC9D9E5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C575D7-2957-4645-9B32-3AB792DEACF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cstate="screen">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51568F-8CED-43BA-90A6-A0ACCC9D9E5E}" type="datetimeFigureOut">
              <a:rPr lang="zh-CN" altLang="en-US" smtClean="0"/>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C575D7-2957-4645-9B32-3AB792DEACF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a:stretch>
            <a:fillRect/>
          </a:stretch>
        </p:blipFill>
        <p:spPr bwMode="auto">
          <a:xfrm flipH="1">
            <a:off x="-136829" y="1588421"/>
            <a:ext cx="5817705" cy="5190839"/>
          </a:xfrm>
          <a:prstGeom prst="rect">
            <a:avLst/>
          </a:prstGeom>
          <a:noFill/>
          <a:effectLst>
            <a:outerShdw blurRad="177800" dir="5400000" sx="107000" sy="107000" algn="t" rotWithShape="0">
              <a:prstClr val="black">
                <a:alpha val="15000"/>
              </a:prstClr>
            </a:outerShdw>
          </a:effectLst>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373755" y="646430"/>
            <a:ext cx="4566285" cy="829945"/>
          </a:xfrm>
          <a:prstGeom prst="rect">
            <a:avLst/>
          </a:prstGeom>
          <a:noFill/>
        </p:spPr>
        <p:txBody>
          <a:bodyPr wrap="square" rtlCol="0">
            <a:spAutoFit/>
          </a:bodyPr>
          <a:lstStyle/>
          <a:p>
            <a:r>
              <a:rPr lang="zh-CN" altLang="en-US" sz="4800" b="1" dirty="0">
                <a:solidFill>
                  <a:srgbClr val="52ACA4"/>
                </a:solidFill>
                <a:latin typeface="微软雅黑" panose="020B0503020204020204" pitchFamily="34" charset="-122"/>
                <a:ea typeface="微软雅黑" panose="020B0503020204020204" pitchFamily="34" charset="-122"/>
              </a:rPr>
              <a:t>摘  要</a:t>
            </a:r>
            <a:endParaRPr lang="zh-CN" altLang="en-US" sz="4800" b="1" dirty="0">
              <a:solidFill>
                <a:srgbClr val="52ACA4"/>
              </a:solidFill>
              <a:latin typeface="微软雅黑" panose="020B0503020204020204" pitchFamily="34" charset="-122"/>
              <a:ea typeface="微软雅黑" panose="020B0503020204020204" pitchFamily="34" charset="-122"/>
            </a:endParaRPr>
          </a:p>
        </p:txBody>
      </p:sp>
      <p:sp>
        <p:nvSpPr>
          <p:cNvPr id="17" name="文本框 21"/>
          <p:cNvSpPr txBox="1">
            <a:spLocks noChangeArrowheads="1"/>
          </p:cNvSpPr>
          <p:nvPr/>
        </p:nvSpPr>
        <p:spPr bwMode="auto">
          <a:xfrm>
            <a:off x="4518660" y="1663700"/>
            <a:ext cx="7531735" cy="530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1800" dirty="0">
                <a:solidFill>
                  <a:srgbClr val="E9C2A8"/>
                </a:solidFill>
                <a:latin typeface="Agency FB" panose="020B0503020202020204" pitchFamily="34" charset="0"/>
                <a:ea typeface="微软雅黑" panose="020B0503020204020204" pitchFamily="34" charset="-122"/>
              </a:rPr>
              <a:t>在当今信息爆炸的大时代，由于信息管理系统能够更有效便捷的完成信息的管理，越来越多的人及机构都已经引入和发展以信息管理系统为基础的信息化管理模式，随之信息管理技术也在不断的发展和成熟。鉴于此，为了适应社会的快速发展，无论什么行业的组织或管理部门都有必要积极改革内部管理方式，以配合引入信息化管理模式，来提高处理事务的效率，促进自身的管理优化和效率的提升。本课题明星周边商城系统的设计与实现就是通过该信息管理网站来辅助本行业，完成信息化管理模式的引入，来提升服务行业信息管理的效率。因此系统的设计要着重考虑系统的安全性，可操作性，功能全面性。</a:t>
            </a:r>
            <a:endParaRPr lang="zh-CN" altLang="en-US" sz="1800" dirty="0">
              <a:solidFill>
                <a:srgbClr val="E9C2A8"/>
              </a:solidFill>
              <a:latin typeface="Agency FB" panose="020B0503020202020204" pitchFamily="34" charset="0"/>
              <a:ea typeface="微软雅黑" panose="020B0503020204020204" pitchFamily="34" charset="-122"/>
            </a:endParaRPr>
          </a:p>
          <a:p>
            <a:pPr eaLnBrk="1" hangingPunct="1">
              <a:lnSpc>
                <a:spcPct val="100000"/>
              </a:lnSpc>
              <a:spcBef>
                <a:spcPct val="0"/>
              </a:spcBef>
              <a:buFontTx/>
              <a:buNone/>
            </a:pPr>
            <a:r>
              <a:rPr lang="zh-CN" altLang="en-US" sz="1800" dirty="0">
                <a:solidFill>
                  <a:srgbClr val="E9C2A8"/>
                </a:solidFill>
                <a:latin typeface="Agency FB" panose="020B0503020202020204" pitchFamily="34" charset="0"/>
                <a:ea typeface="微软雅黑" panose="020B0503020204020204" pitchFamily="34" charset="-122"/>
              </a:rPr>
              <a:t>本明星周边商城系统开发的目的在于规范购买周边服务，提高效率。以便满足各类型用户的需求，增加的安全性，多样性更加适应现代社会的发展。</a:t>
            </a:r>
            <a:endParaRPr lang="zh-CN" altLang="en-US" sz="1800" dirty="0">
              <a:solidFill>
                <a:srgbClr val="E9C2A8"/>
              </a:solidFill>
              <a:latin typeface="Agency FB" panose="020B0503020202020204" pitchFamily="34" charset="0"/>
              <a:ea typeface="微软雅黑" panose="020B0503020204020204" pitchFamily="34" charset="-122"/>
            </a:endParaRPr>
          </a:p>
          <a:p>
            <a:pPr eaLnBrk="1" hangingPunct="1">
              <a:lnSpc>
                <a:spcPct val="100000"/>
              </a:lnSpc>
              <a:spcBef>
                <a:spcPct val="0"/>
              </a:spcBef>
              <a:buFontTx/>
              <a:buNone/>
            </a:pPr>
            <a:r>
              <a:rPr lang="zh-CN" altLang="en-US" sz="1800" dirty="0">
                <a:solidFill>
                  <a:srgbClr val="E9C2A8"/>
                </a:solidFill>
                <a:latin typeface="Agency FB" panose="020B0503020202020204" pitchFamily="34" charset="0"/>
                <a:ea typeface="微软雅黑" panose="020B0503020204020204" pitchFamily="34" charset="-122"/>
              </a:rPr>
              <a:t>除此以外，本明星周边商城系统是严格根据软件工程的开发方式进行开发。利用MySQL 数据库作为数据存储支撑，使用JAVA编程语言，基于springboot框架。主要功能是实现各项相关信息的编辑，查询以及用户的添加。功能模块包括：注册，登陆，主界面，商家、周边信息、论坛、公告信息等模块。其中的数据库能够实现增、删、改、查等功能。</a:t>
            </a:r>
            <a:endParaRPr lang="zh-CN" altLang="en-US" sz="1800" dirty="0">
              <a:solidFill>
                <a:srgbClr val="E9C2A8"/>
              </a:solidFill>
              <a:latin typeface="Agency FB" panose="020B0503020202020204" pitchFamily="34" charset="0"/>
              <a:ea typeface="微软雅黑" panose="020B0503020204020204" pitchFamily="34" charset="-122"/>
            </a:endParaRPr>
          </a:p>
          <a:p>
            <a:pPr eaLnBrk="1" hangingPunct="1">
              <a:lnSpc>
                <a:spcPct val="100000"/>
              </a:lnSpc>
              <a:spcBef>
                <a:spcPct val="0"/>
              </a:spcBef>
              <a:buFontTx/>
              <a:buNone/>
            </a:pPr>
            <a:r>
              <a:rPr lang="zh-CN" altLang="en-US" sz="1800" dirty="0">
                <a:solidFill>
                  <a:srgbClr val="E9C2A8"/>
                </a:solidFill>
                <a:latin typeface="Agency FB" panose="020B0503020202020204" pitchFamily="34" charset="0"/>
                <a:ea typeface="微软雅黑" panose="020B0503020204020204" pitchFamily="34" charset="-122"/>
              </a:rPr>
              <a:t>关键词：明星周边商城系统；springboot框架；MySQL 数据库；</a:t>
            </a:r>
            <a:endParaRPr lang="zh-CN" altLang="en-US" sz="1800" dirty="0">
              <a:solidFill>
                <a:srgbClr val="E9C2A8"/>
              </a:solidFill>
              <a:latin typeface="Agency FB" panose="020B0503020202020204" pitchFamily="34" charset="0"/>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250"/>
                                        <p:tgtEl>
                                          <p:spTgt spid="2"/>
                                        </p:tgtEl>
                                      </p:cBhvr>
                                    </p:animEffect>
                                    <p:anim calcmode="lin" valueType="num">
                                      <p:cBhvr>
                                        <p:cTn id="8" dur="1250" fill="hold"/>
                                        <p:tgtEl>
                                          <p:spTgt spid="2"/>
                                        </p:tgtEl>
                                        <p:attrNameLst>
                                          <p:attrName>ppt_x</p:attrName>
                                        </p:attrNameLst>
                                      </p:cBhvr>
                                      <p:tavLst>
                                        <p:tav tm="0">
                                          <p:val>
                                            <p:strVal val="#ppt_x"/>
                                          </p:val>
                                        </p:tav>
                                        <p:tav tm="100000">
                                          <p:val>
                                            <p:strVal val="#ppt_x"/>
                                          </p:val>
                                        </p:tav>
                                      </p:tavLst>
                                    </p:anim>
                                    <p:anim calcmode="lin" valueType="num">
                                      <p:cBhvr>
                                        <p:cTn id="9" dur="1250" fill="hold"/>
                                        <p:tgtEl>
                                          <p:spTgt spid="2"/>
                                        </p:tgtEl>
                                        <p:attrNameLst>
                                          <p:attrName>ppt_y</p:attrName>
                                        </p:attrNameLst>
                                      </p:cBhvr>
                                      <p:tavLst>
                                        <p:tav tm="0">
                                          <p:val>
                                            <p:strVal val="#ppt_y+.1"/>
                                          </p:val>
                                        </p:tav>
                                        <p:tav tm="100000">
                                          <p:val>
                                            <p:strVal val="#ppt_y"/>
                                          </p:val>
                                        </p:tav>
                                      </p:tavLst>
                                    </p:anim>
                                  </p:childTnLst>
                                </p:cTn>
                              </p:par>
                              <p:par>
                                <p:cTn id="10" presetID="53" presetClass="entr" presetSubtype="16" fill="hold" grpId="0" nodeType="with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p:cTn id="12"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14"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screen">
            <a:duotone>
              <a:schemeClr val="accent2">
                <a:shade val="45000"/>
                <a:satMod val="135000"/>
              </a:schemeClr>
              <a:prstClr val="white"/>
            </a:duotone>
          </a:blip>
          <a:srcRect/>
          <a:stretch>
            <a:fillRect/>
          </a:stretch>
        </p:blipFill>
        <p:spPr>
          <a:xfrm rot="19867563">
            <a:off x="3088218" y="1555886"/>
            <a:ext cx="4521645" cy="2201845"/>
          </a:xfrm>
          <a:prstGeom prst="rect">
            <a:avLst/>
          </a:prstGeom>
        </p:spPr>
      </p:pic>
      <p:grpSp>
        <p:nvGrpSpPr>
          <p:cNvPr id="3" name="组合 2"/>
          <p:cNvGrpSpPr/>
          <p:nvPr/>
        </p:nvGrpSpPr>
        <p:grpSpPr>
          <a:xfrm>
            <a:off x="4205808" y="2923561"/>
            <a:ext cx="1319403" cy="1319403"/>
            <a:chOff x="4040967" y="1897043"/>
            <a:chExt cx="4526819" cy="4526819"/>
          </a:xfrm>
        </p:grpSpPr>
        <p:sp>
          <p:nvSpPr>
            <p:cNvPr id="4" name="椭圆 3"/>
            <p:cNvSpPr/>
            <p:nvPr/>
          </p:nvSpPr>
          <p:spPr>
            <a:xfrm>
              <a:off x="4251726" y="2107802"/>
              <a:ext cx="4105303" cy="410530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80">
                <a:latin typeface="微软雅黑" panose="020B0503020204020204" pitchFamily="34" charset="-122"/>
                <a:ea typeface="微软雅黑" panose="020B0503020204020204" pitchFamily="34" charset="-122"/>
              </a:endParaRPr>
            </a:p>
          </p:txBody>
        </p:sp>
        <p:sp>
          <p:nvSpPr>
            <p:cNvPr id="5" name="椭圆 4"/>
            <p:cNvSpPr/>
            <p:nvPr/>
          </p:nvSpPr>
          <p:spPr>
            <a:xfrm>
              <a:off x="4040967" y="1897043"/>
              <a:ext cx="4526819" cy="4526819"/>
            </a:xfrm>
            <a:prstGeom prst="ellipse">
              <a:avLst/>
            </a:prstGeom>
            <a:noFill/>
            <a:ln w="38100">
              <a:solidFill>
                <a:srgbClr val="52AC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80">
                <a:latin typeface="微软雅黑" panose="020B0503020204020204" pitchFamily="34" charset="-122"/>
                <a:ea typeface="微软雅黑" panose="020B0503020204020204" pitchFamily="34" charset="-122"/>
              </a:endParaRPr>
            </a:p>
          </p:txBody>
        </p:sp>
      </p:grpSp>
      <p:pic>
        <p:nvPicPr>
          <p:cNvPr id="6" name="图片 5"/>
          <p:cNvPicPr>
            <a:picLocks noChangeAspect="1"/>
          </p:cNvPicPr>
          <p:nvPr/>
        </p:nvPicPr>
        <p:blipFill rotWithShape="1">
          <a:blip r:embed="rId2" cstate="screen">
            <a:duotone>
              <a:schemeClr val="accent2">
                <a:shade val="45000"/>
                <a:satMod val="135000"/>
              </a:schemeClr>
              <a:prstClr val="white"/>
            </a:duotone>
          </a:blip>
          <a:srcRect/>
          <a:stretch>
            <a:fillRect/>
          </a:stretch>
        </p:blipFill>
        <p:spPr>
          <a:xfrm>
            <a:off x="3854909" y="3744652"/>
            <a:ext cx="2021203" cy="864491"/>
          </a:xfrm>
          <a:prstGeom prst="rect">
            <a:avLst/>
          </a:prstGeom>
        </p:spPr>
      </p:pic>
      <p:sp>
        <p:nvSpPr>
          <p:cNvPr id="7" name="矩形 6"/>
          <p:cNvSpPr/>
          <p:nvPr/>
        </p:nvSpPr>
        <p:spPr>
          <a:xfrm>
            <a:off x="3695065" y="3218180"/>
            <a:ext cx="2815590" cy="645160"/>
          </a:xfrm>
          <a:prstGeom prst="rect">
            <a:avLst/>
          </a:prstGeom>
          <a:effectLst/>
        </p:spPr>
        <p:txBody>
          <a:bodyPr vert="horz" wrap="square">
            <a:spAutoFit/>
          </a:bodyPr>
          <a:lstStyle/>
          <a:p>
            <a:pPr algn="l"/>
            <a:r>
              <a:rPr lang="en-US" altLang="zh-CN" sz="3600" b="1" dirty="0">
                <a:solidFill>
                  <a:srgbClr val="52ACA4"/>
                </a:solidFill>
                <a:latin typeface="微软雅黑" panose="020B0503020204020204" pitchFamily="34" charset="-122"/>
                <a:ea typeface="微软雅黑" panose="020B0503020204020204" pitchFamily="34" charset="-122"/>
              </a:rPr>
              <a:t> </a:t>
            </a:r>
            <a:r>
              <a:rPr lang="zh-CN" altLang="en-US" sz="3600" b="1" dirty="0">
                <a:solidFill>
                  <a:srgbClr val="52ACA4"/>
                </a:solidFill>
                <a:latin typeface="微软雅黑" panose="020B0503020204020204" pitchFamily="34" charset="-122"/>
                <a:ea typeface="微软雅黑" panose="020B0503020204020204" pitchFamily="34" charset="-122"/>
              </a:rPr>
              <a:t>研究背景</a:t>
            </a:r>
            <a:endParaRPr lang="zh-CN" altLang="en-US" sz="3600" b="1" dirty="0">
              <a:solidFill>
                <a:srgbClr val="52ACA4"/>
              </a:solidFill>
              <a:latin typeface="微软雅黑" panose="020B0503020204020204" pitchFamily="34" charset="-122"/>
              <a:ea typeface="微软雅黑" panose="020B0503020204020204" pitchFamily="34" charset="-122"/>
            </a:endParaRPr>
          </a:p>
        </p:txBody>
      </p:sp>
      <p:sp>
        <p:nvSpPr>
          <p:cNvPr id="9" name="TextBox 17"/>
          <p:cNvSpPr txBox="1"/>
          <p:nvPr/>
        </p:nvSpPr>
        <p:spPr>
          <a:xfrm>
            <a:off x="5815209" y="3434679"/>
            <a:ext cx="4465259" cy="275590"/>
          </a:xfrm>
          <a:prstGeom prst="rect">
            <a:avLst/>
          </a:prstGeom>
          <a:noFill/>
        </p:spPr>
        <p:txBody>
          <a:bodyPr vert="horz" wrap="square" rtlCol="0">
            <a:spAutoFit/>
          </a:bodyPr>
          <a:lstStyle/>
          <a:p>
            <a:pPr>
              <a:lnSpc>
                <a:spcPct val="150000"/>
              </a:lnSpc>
            </a:pPr>
            <a:endParaRPr lang="zh-CN" altLang="en-US" sz="8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0" name="TextBox 18"/>
          <p:cNvSpPr txBox="1"/>
          <p:nvPr/>
        </p:nvSpPr>
        <p:spPr>
          <a:xfrm>
            <a:off x="5782310" y="3047365"/>
            <a:ext cx="6410325" cy="2880995"/>
          </a:xfrm>
          <a:prstGeom prst="rect">
            <a:avLst/>
          </a:prstGeom>
          <a:noFill/>
        </p:spPr>
        <p:txBody>
          <a:bodyPr wrap="square" rtlCol="0">
            <a:noAutofit/>
          </a:bodyPr>
          <a:lstStyle/>
          <a:p>
            <a:r>
              <a:rPr lang="zh-CN" altLang="en-US" sz="1600" b="1" dirty="0">
                <a:solidFill>
                  <a:srgbClr val="E9C2A8"/>
                </a:solidFill>
                <a:latin typeface="微软雅黑" panose="020B0503020204020204" pitchFamily="34" charset="-122"/>
                <a:ea typeface="微软雅黑" panose="020B0503020204020204" pitchFamily="34" charset="-122"/>
              </a:rPr>
              <a:t>显而易见，在互联网时代，计算机给人们的生活方式带了前所未有的变革，如今各类电子设备，智能产品正在改变人们传统的生活、工作及娱乐方式[1]。相对于人们过去的脑计算，手动记录的方式，现如今花费同样时间能够处理的问题早已不再是一个数量级了。那在当今社会，人们需要慢慢从很多复杂劳累繁重重复的体力劳动中解放出来，人们对信息资源的需求就变的越来越大，对获取信息的准确度，安全性以及效率的要求也随之加大。因此，基于计算机应用的信息管理系统便随之出现[2]。有了信息管理系统，人们能够快速获取，收集和处理数据。管理信息系统（MIS）可以完美地集成计算机和网络技术，满足用户对信息的需求[3]。作为一种智能管理工具，MIS使数据信息的处理更加省时省力，准确并更切合用户的要求。此外，由于繁杂的数据处理由计算机应用系统完成，用户就可以在需要时，时时获得数据信息的分析统计的结果，以辅助做出管理决策来实现更高效有益的管理工作实现。</a:t>
            </a:r>
            <a:endParaRPr lang="zh-CN" altLang="en-US" sz="1600" b="1" dirty="0">
              <a:solidFill>
                <a:srgbClr val="E9C2A8"/>
              </a:solidFill>
              <a:latin typeface="微软雅黑" panose="020B0503020204020204" pitchFamily="34" charset="-122"/>
              <a:ea typeface="微软雅黑" panose="020B0503020204020204" pitchFamily="34" charset="-122"/>
            </a:endParaRPr>
          </a:p>
        </p:txBody>
      </p:sp>
      <p:pic>
        <p:nvPicPr>
          <p:cNvPr id="12" name="Picture 2"/>
          <p:cNvPicPr>
            <a:picLocks noChangeAspect="1" noChangeArrowheads="1"/>
          </p:cNvPicPr>
          <p:nvPr/>
        </p:nvPicPr>
        <p:blipFill>
          <a:blip r:embed="rId3" cstate="screen"/>
          <a:stretch>
            <a:fillRect/>
          </a:stretch>
        </p:blipFill>
        <p:spPr bwMode="auto">
          <a:xfrm flipH="1">
            <a:off x="7498440" y="3969280"/>
            <a:ext cx="3237573" cy="2888720"/>
          </a:xfrm>
          <a:prstGeom prst="rect">
            <a:avLst/>
          </a:prstGeom>
          <a:noFill/>
          <a:effectLst>
            <a:outerShdw blurRad="177800" dir="5400000" sx="107000" sy="107000" algn="t" rotWithShape="0">
              <a:prstClr val="black">
                <a:alpha val="15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0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250"/>
                                        <p:tgtEl>
                                          <p:spTgt spid="12"/>
                                        </p:tgtEl>
                                      </p:cBhvr>
                                    </p:animEffect>
                                    <p:anim calcmode="lin" valueType="num">
                                      <p:cBhvr>
                                        <p:cTn id="8" dur="1250" fill="hold"/>
                                        <p:tgtEl>
                                          <p:spTgt spid="12"/>
                                        </p:tgtEl>
                                        <p:attrNameLst>
                                          <p:attrName>ppt_x</p:attrName>
                                        </p:attrNameLst>
                                      </p:cBhvr>
                                      <p:tavLst>
                                        <p:tav tm="0">
                                          <p:val>
                                            <p:strVal val="#ppt_x"/>
                                          </p:val>
                                        </p:tav>
                                        <p:tav tm="100000">
                                          <p:val>
                                            <p:strVal val="#ppt_x"/>
                                          </p:val>
                                        </p:tav>
                                      </p:tavLst>
                                    </p:anim>
                                    <p:anim calcmode="lin" valueType="num">
                                      <p:cBhvr>
                                        <p:cTn id="9" dur="125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42"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2500"/>
                            </p:stCondLst>
                            <p:childTnLst>
                              <p:par>
                                <p:cTn id="17" presetID="53" presetClass="entr" presetSubtype="16"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childTnLst>
                          </p:cTn>
                        </p:par>
                        <p:par>
                          <p:cTn id="22" fill="hold">
                            <p:stCondLst>
                              <p:cond delay="3000"/>
                            </p:stCondLst>
                            <p:childTnLst>
                              <p:par>
                                <p:cTn id="23" presetID="23" presetClass="entr" presetSubtype="32"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strVal val="4*#ppt_w"/>
                                          </p:val>
                                        </p:tav>
                                        <p:tav tm="100000">
                                          <p:val>
                                            <p:strVal val="#ppt_w"/>
                                          </p:val>
                                        </p:tav>
                                      </p:tavLst>
                                    </p:anim>
                                    <p:anim calcmode="lin" valueType="num">
                                      <p:cBhvr>
                                        <p:cTn id="26" dur="500" fill="hold"/>
                                        <p:tgtEl>
                                          <p:spTgt spid="7"/>
                                        </p:tgtEl>
                                        <p:attrNameLst>
                                          <p:attrName>ppt_h</p:attrName>
                                        </p:attrNameLst>
                                      </p:cBhvr>
                                      <p:tavLst>
                                        <p:tav tm="0">
                                          <p:val>
                                            <p:strVal val="4*#ppt_h"/>
                                          </p:val>
                                        </p:tav>
                                        <p:tav tm="100000">
                                          <p:val>
                                            <p:strVal val="#ppt_h"/>
                                          </p:val>
                                        </p:tav>
                                      </p:tavLst>
                                    </p:anim>
                                  </p:childTnLst>
                                </p:cTn>
                              </p:par>
                            </p:childTnLst>
                          </p:cTn>
                        </p:par>
                        <p:par>
                          <p:cTn id="27" fill="hold">
                            <p:stCondLst>
                              <p:cond delay="3500"/>
                            </p:stCondLst>
                            <p:childTnLst>
                              <p:par>
                                <p:cTn id="28" presetID="42" presetClass="entr" presetSubtype="0"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1000"/>
                                        <p:tgtEl>
                                          <p:spTgt spid="2"/>
                                        </p:tgtEl>
                                      </p:cBhvr>
                                    </p:animEffect>
                                    <p:anim calcmode="lin" valueType="num">
                                      <p:cBhvr>
                                        <p:cTn id="31" dur="1000" fill="hold"/>
                                        <p:tgtEl>
                                          <p:spTgt spid="2"/>
                                        </p:tgtEl>
                                        <p:attrNameLst>
                                          <p:attrName>ppt_x</p:attrName>
                                        </p:attrNameLst>
                                      </p:cBhvr>
                                      <p:tavLst>
                                        <p:tav tm="0">
                                          <p:val>
                                            <p:strVal val="#ppt_x"/>
                                          </p:val>
                                        </p:tav>
                                        <p:tav tm="100000">
                                          <p:val>
                                            <p:strVal val="#ppt_x"/>
                                          </p:val>
                                        </p:tav>
                                      </p:tavLst>
                                    </p:anim>
                                    <p:anim calcmode="lin" valueType="num">
                                      <p:cBhvr>
                                        <p:cTn id="32" dur="1000" fill="hold"/>
                                        <p:tgtEl>
                                          <p:spTgt spid="2"/>
                                        </p:tgtEl>
                                        <p:attrNameLst>
                                          <p:attrName>ppt_y</p:attrName>
                                        </p:attrNameLst>
                                      </p:cBhvr>
                                      <p:tavLst>
                                        <p:tav tm="0">
                                          <p:val>
                                            <p:strVal val="#ppt_y+.1"/>
                                          </p:val>
                                        </p:tav>
                                        <p:tav tm="100000">
                                          <p:val>
                                            <p:strVal val="#ppt_y"/>
                                          </p:val>
                                        </p:tav>
                                      </p:tavLst>
                                    </p:anim>
                                  </p:childTnLst>
                                </p:cTn>
                              </p:par>
                              <p:par>
                                <p:cTn id="33" presetID="53" presetClass="entr" presetSubtype="16"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000" fill="hold"/>
                                        <p:tgtEl>
                                          <p:spTgt spid="9"/>
                                        </p:tgtEl>
                                        <p:attrNameLst>
                                          <p:attrName>ppt_w</p:attrName>
                                        </p:attrNameLst>
                                      </p:cBhvr>
                                      <p:tavLst>
                                        <p:tav tm="0">
                                          <p:val>
                                            <p:fltVal val="0"/>
                                          </p:val>
                                        </p:tav>
                                        <p:tav tm="100000">
                                          <p:val>
                                            <p:strVal val="#ppt_w"/>
                                          </p:val>
                                        </p:tav>
                                      </p:tavLst>
                                    </p:anim>
                                    <p:anim calcmode="lin" valueType="num">
                                      <p:cBhvr>
                                        <p:cTn id="36" dur="1000" fill="hold"/>
                                        <p:tgtEl>
                                          <p:spTgt spid="9"/>
                                        </p:tgtEl>
                                        <p:attrNameLst>
                                          <p:attrName>ppt_h</p:attrName>
                                        </p:attrNameLst>
                                      </p:cBhvr>
                                      <p:tavLst>
                                        <p:tav tm="0">
                                          <p:val>
                                            <p:fltVal val="0"/>
                                          </p:val>
                                        </p:tav>
                                        <p:tav tm="100000">
                                          <p:val>
                                            <p:strVal val="#ppt_h"/>
                                          </p:val>
                                        </p:tav>
                                      </p:tavLst>
                                    </p:anim>
                                    <p:animEffect transition="in" filter="fade">
                                      <p:cBhvr>
                                        <p:cTn id="37" dur="1000"/>
                                        <p:tgtEl>
                                          <p:spTgt spid="9"/>
                                        </p:tgtEl>
                                      </p:cBhvr>
                                    </p:animEffect>
                                  </p:childTnLst>
                                </p:cTn>
                              </p:par>
                              <p:par>
                                <p:cTn id="38" presetID="53" presetClass="entr" presetSubtype="16" fill="hold" grpId="0" nodeType="withEffect">
                                  <p:stCondLst>
                                    <p:cond delay="0"/>
                                  </p:stCondLst>
                                  <p:childTnLst>
                                    <p:set>
                                      <p:cBhvr>
                                        <p:cTn id="39" dur="1250" fill="hold">
                                          <p:stCondLst>
                                            <p:cond delay="0"/>
                                          </p:stCondLst>
                                        </p:cTn>
                                        <p:tgtEl>
                                          <p:spTgt spid="10">
                                            <p:txEl>
                                              <p:pRg st="0" end="0"/>
                                            </p:txEl>
                                          </p:spTgt>
                                        </p:tgtEl>
                                        <p:attrNameLst>
                                          <p:attrName>style.visibility</p:attrName>
                                        </p:attrNameLst>
                                      </p:cBhvr>
                                      <p:to>
                                        <p:strVal val="visible"/>
                                      </p:to>
                                    </p:set>
                                    <p:anim calcmode="lin" valueType="num">
                                      <p:cBhvr>
                                        <p:cTn id="40" dur="1250" fill="hold"/>
                                        <p:tgtEl>
                                          <p:spTgt spid="10">
                                            <p:txEl>
                                              <p:pRg st="0" end="0"/>
                                            </p:txEl>
                                          </p:spTgt>
                                        </p:tgtEl>
                                        <p:attrNameLst>
                                          <p:attrName>ppt_w</p:attrName>
                                        </p:attrNameLst>
                                      </p:cBhvr>
                                      <p:tavLst>
                                        <p:tav tm="0">
                                          <p:val>
                                            <p:fltVal val="0"/>
                                          </p:val>
                                        </p:tav>
                                        <p:tav tm="100000">
                                          <p:val>
                                            <p:strVal val="#ppt_w"/>
                                          </p:val>
                                        </p:tav>
                                      </p:tavLst>
                                    </p:anim>
                                    <p:anim calcmode="lin" valueType="num">
                                      <p:cBhvr>
                                        <p:cTn id="41" dur="125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42" dur="125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P spid="1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30770" y="183511"/>
            <a:ext cx="1808480" cy="583565"/>
          </a:xfrm>
          <a:prstGeom prst="rect">
            <a:avLst/>
          </a:prstGeom>
          <a:noFill/>
        </p:spPr>
        <p:txBody>
          <a:bodyPr wrap="none" rtlCol="0" anchor="ctr">
            <a:spAutoFit/>
          </a:bodyPr>
          <a:lstStyle/>
          <a:p>
            <a:pPr algn="ctr"/>
            <a:r>
              <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课题意义</a:t>
            </a:r>
            <a:endPar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6118804" y="720352"/>
            <a:ext cx="232410" cy="306705"/>
          </a:xfrm>
          <a:prstGeom prst="rect">
            <a:avLst/>
          </a:prstGeom>
          <a:noFill/>
        </p:spPr>
        <p:txBody>
          <a:bodyPr wrap="none" rtlCol="0">
            <a:spAutoFit/>
          </a:bodyPr>
          <a:lstStyle/>
          <a:p>
            <a:pPr algn="ctr" fontAlgn="base">
              <a:spcBef>
                <a:spcPct val="0"/>
              </a:spcBef>
              <a:spcAft>
                <a:spcPct val="0"/>
              </a:spcAft>
              <a:buFont typeface="Arial" panose="020B0604020202020204" pitchFamily="34" charset="0"/>
              <a:buNone/>
            </a:pPr>
            <a:r>
              <a:rPr lang="en-US" altLang="zh-CN" sz="1400" dirty="0">
                <a:solidFill>
                  <a:schemeClr val="bg1">
                    <a:lumMod val="65000"/>
                  </a:schemeClr>
                </a:solidFill>
                <a:latin typeface="Arial" panose="020B0604020202020204" pitchFamily="34" charset="0"/>
                <a:cs typeface="Arial" panose="020B0604020202020204" pitchFamily="34" charset="0"/>
              </a:rPr>
              <a:t> </a:t>
            </a:r>
            <a:endParaRPr lang="zh-CN" altLang="en-US" sz="1400" dirty="0">
              <a:solidFill>
                <a:schemeClr val="bg1">
                  <a:lumMod val="65000"/>
                </a:schemeClr>
              </a:solidFill>
              <a:latin typeface="Arial" panose="020B0604020202020204" pitchFamily="34" charset="0"/>
              <a:cs typeface="Arial" panose="020B0604020202020204" pitchFamily="34" charset="0"/>
            </a:endParaRPr>
          </a:p>
        </p:txBody>
      </p:sp>
      <p:sp>
        <p:nvSpPr>
          <p:cNvPr id="14" name="矩形 13"/>
          <p:cNvSpPr/>
          <p:nvPr/>
        </p:nvSpPr>
        <p:spPr>
          <a:xfrm>
            <a:off x="2528570" y="1152525"/>
            <a:ext cx="8757920" cy="3936365"/>
          </a:xfrm>
          <a:prstGeom prst="rect">
            <a:avLst/>
          </a:prstGeom>
        </p:spPr>
        <p:txBody>
          <a:bodyPr wrap="square">
            <a:noAutofit/>
          </a:bodyPr>
          <a:lstStyle/>
          <a:p>
            <a:pPr>
              <a:lnSpc>
                <a:spcPct val="150000"/>
              </a:lnSpc>
              <a:spcAft>
                <a:spcPts val="1200"/>
              </a:spcAft>
              <a:buClr>
                <a:schemeClr val="accent2"/>
              </a:buClr>
            </a:pPr>
            <a:r>
              <a:rPr lang="zh-CN" altLang="en-US" dirty="0">
                <a:solidFill>
                  <a:schemeClr val="bg1">
                    <a:lumMod val="65000"/>
                  </a:schemeClr>
                </a:solidFill>
                <a:latin typeface="微软雅黑" panose="020B0503020204020204" pitchFamily="34" charset="-122"/>
                <a:ea typeface="微软雅黑" panose="020B0503020204020204" pitchFamily="34" charset="-122"/>
              </a:rPr>
              <a:t>激烈的市场竞争是这个时代的标志，适者生存，不适者淘汰，优胜劣汰是基本法则。循序渐进，任何事物随着时间的推移都朝着好的方面在发展，各行各业的管理部门要想在本行业领域中脱颖而出，就必须保持足够的优势，提高市场竞争力[6]。对于现代管理部门来说，信息资源是非常重要的，有效的利用及管理好这些资源信息可以帮助管理部门更好的发展。信息管理系统是新型的管理模式，相对于传统的以人工为主的管理模式而言，它更加的高效化，可以满足各类用户的使用需求，用户可以节省大量的时间而从去做更有意义的事情[7]。信息管理系统对于信息的收集和处理也是非常便捷的，管理者可以实时查询所需要的信息，从而更加准确及快速的做出决策，提高管理工作效率[8]。</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755130" y="2006720"/>
            <a:ext cx="1418887" cy="1249700"/>
            <a:chOff x="2203450" y="770309"/>
            <a:chExt cx="7785100" cy="6856812"/>
          </a:xfrm>
          <a:solidFill>
            <a:srgbClr val="EA7D97"/>
          </a:solidFill>
        </p:grpSpPr>
        <p:sp>
          <p:nvSpPr>
            <p:cNvPr id="16" name="任意多边形 15"/>
            <p:cNvSpPr/>
            <p:nvPr/>
          </p:nvSpPr>
          <p:spPr bwMode="auto">
            <a:xfrm>
              <a:off x="6007100" y="770309"/>
              <a:ext cx="3981450" cy="6856812"/>
            </a:xfrm>
            <a:custGeom>
              <a:avLst/>
              <a:gdLst>
                <a:gd name="connsiteX0" fmla="*/ 2051459 w 3981450"/>
                <a:gd name="connsiteY0" fmla="*/ 1433912 h 6856812"/>
                <a:gd name="connsiteX1" fmla="*/ 2082422 w 3981450"/>
                <a:gd name="connsiteY1" fmla="*/ 1433912 h 6856812"/>
                <a:gd name="connsiteX2" fmla="*/ 2112590 w 3981450"/>
                <a:gd name="connsiteY2" fmla="*/ 1435499 h 6856812"/>
                <a:gd name="connsiteX3" fmla="*/ 2143552 w 3981450"/>
                <a:gd name="connsiteY3" fmla="*/ 1437880 h 6856812"/>
                <a:gd name="connsiteX4" fmla="*/ 2173721 w 3981450"/>
                <a:gd name="connsiteY4" fmla="*/ 1441849 h 6856812"/>
                <a:gd name="connsiteX5" fmla="*/ 2202302 w 3981450"/>
                <a:gd name="connsiteY5" fmla="*/ 1446610 h 6856812"/>
                <a:gd name="connsiteX6" fmla="*/ 2232470 w 3981450"/>
                <a:gd name="connsiteY6" fmla="*/ 1452959 h 6856812"/>
                <a:gd name="connsiteX7" fmla="*/ 2261845 w 3981450"/>
                <a:gd name="connsiteY7" fmla="*/ 1460102 h 6856812"/>
                <a:gd name="connsiteX8" fmla="*/ 2289632 w 3981450"/>
                <a:gd name="connsiteY8" fmla="*/ 1469626 h 6856812"/>
                <a:gd name="connsiteX9" fmla="*/ 2318212 w 3981450"/>
                <a:gd name="connsiteY9" fmla="*/ 1479149 h 6856812"/>
                <a:gd name="connsiteX10" fmla="*/ 2345205 w 3981450"/>
                <a:gd name="connsiteY10" fmla="*/ 1491054 h 6856812"/>
                <a:gd name="connsiteX11" fmla="*/ 2372992 w 3981450"/>
                <a:gd name="connsiteY11" fmla="*/ 1502958 h 6856812"/>
                <a:gd name="connsiteX12" fmla="*/ 2390458 w 3981450"/>
                <a:gd name="connsiteY12" fmla="*/ 1509307 h 6856812"/>
                <a:gd name="connsiteX13" fmla="*/ 2406336 w 3981450"/>
                <a:gd name="connsiteY13" fmla="*/ 1517244 h 6856812"/>
                <a:gd name="connsiteX14" fmla="*/ 2424596 w 3981450"/>
                <a:gd name="connsiteY14" fmla="*/ 1527561 h 6856812"/>
                <a:gd name="connsiteX15" fmla="*/ 2440474 w 3981450"/>
                <a:gd name="connsiteY15" fmla="*/ 1537085 h 6856812"/>
                <a:gd name="connsiteX16" fmla="*/ 3409042 w 3981450"/>
                <a:gd name="connsiteY16" fmla="*/ 2224371 h 6856812"/>
                <a:gd name="connsiteX17" fmla="*/ 3435241 w 3981450"/>
                <a:gd name="connsiteY17" fmla="*/ 2243419 h 6856812"/>
                <a:gd name="connsiteX18" fmla="*/ 3462234 w 3981450"/>
                <a:gd name="connsiteY18" fmla="*/ 2263260 h 6856812"/>
                <a:gd name="connsiteX19" fmla="*/ 3486845 w 3981450"/>
                <a:gd name="connsiteY19" fmla="*/ 2283101 h 6856812"/>
                <a:gd name="connsiteX20" fmla="*/ 3511456 w 3981450"/>
                <a:gd name="connsiteY20" fmla="*/ 2306116 h 6856812"/>
                <a:gd name="connsiteX21" fmla="*/ 3533686 w 3981450"/>
                <a:gd name="connsiteY21" fmla="*/ 2329131 h 6856812"/>
                <a:gd name="connsiteX22" fmla="*/ 3556709 w 3981450"/>
                <a:gd name="connsiteY22" fmla="*/ 2352940 h 6856812"/>
                <a:gd name="connsiteX23" fmla="*/ 3576557 w 3981450"/>
                <a:gd name="connsiteY23" fmla="*/ 2377543 h 6856812"/>
                <a:gd name="connsiteX24" fmla="*/ 3597198 w 3981450"/>
                <a:gd name="connsiteY24" fmla="*/ 2404526 h 6856812"/>
                <a:gd name="connsiteX25" fmla="*/ 3614664 w 3981450"/>
                <a:gd name="connsiteY25" fmla="*/ 2430716 h 6856812"/>
                <a:gd name="connsiteX26" fmla="*/ 3632130 w 3981450"/>
                <a:gd name="connsiteY26" fmla="*/ 2458493 h 6856812"/>
                <a:gd name="connsiteX27" fmla="*/ 3648802 w 3981450"/>
                <a:gd name="connsiteY27" fmla="*/ 2487858 h 6856812"/>
                <a:gd name="connsiteX28" fmla="*/ 3662299 w 3981450"/>
                <a:gd name="connsiteY28" fmla="*/ 2516429 h 6856812"/>
                <a:gd name="connsiteX29" fmla="*/ 3676589 w 3981450"/>
                <a:gd name="connsiteY29" fmla="*/ 2545793 h 6856812"/>
                <a:gd name="connsiteX30" fmla="*/ 3687704 w 3981450"/>
                <a:gd name="connsiteY30" fmla="*/ 2576745 h 6856812"/>
                <a:gd name="connsiteX31" fmla="*/ 3698819 w 3981450"/>
                <a:gd name="connsiteY31" fmla="*/ 2606903 h 6856812"/>
                <a:gd name="connsiteX32" fmla="*/ 3707552 w 3981450"/>
                <a:gd name="connsiteY32" fmla="*/ 2640236 h 6856812"/>
                <a:gd name="connsiteX33" fmla="*/ 3971129 w 3981450"/>
                <a:gd name="connsiteY33" fmla="*/ 3622754 h 6856812"/>
                <a:gd name="connsiteX34" fmla="*/ 3975099 w 3981450"/>
                <a:gd name="connsiteY34" fmla="*/ 3637833 h 6856812"/>
                <a:gd name="connsiteX35" fmla="*/ 3977480 w 3981450"/>
                <a:gd name="connsiteY35" fmla="*/ 3652119 h 6856812"/>
                <a:gd name="connsiteX36" fmla="*/ 3981450 w 3981450"/>
                <a:gd name="connsiteY36" fmla="*/ 3680690 h 6856812"/>
                <a:gd name="connsiteX37" fmla="*/ 3981450 w 3981450"/>
                <a:gd name="connsiteY37" fmla="*/ 3710054 h 6856812"/>
                <a:gd name="connsiteX38" fmla="*/ 3979068 w 3981450"/>
                <a:gd name="connsiteY38" fmla="*/ 3737831 h 6856812"/>
                <a:gd name="connsiteX39" fmla="*/ 3973511 w 3981450"/>
                <a:gd name="connsiteY39" fmla="*/ 3765608 h 6856812"/>
                <a:gd name="connsiteX40" fmla="*/ 3964778 w 3981450"/>
                <a:gd name="connsiteY40" fmla="*/ 3793386 h 6856812"/>
                <a:gd name="connsiteX41" fmla="*/ 3955251 w 3981450"/>
                <a:gd name="connsiteY41" fmla="*/ 3817988 h 6856812"/>
                <a:gd name="connsiteX42" fmla="*/ 3942548 w 3981450"/>
                <a:gd name="connsiteY42" fmla="*/ 3843384 h 6856812"/>
                <a:gd name="connsiteX43" fmla="*/ 3927464 w 3981450"/>
                <a:gd name="connsiteY43" fmla="*/ 3866400 h 6856812"/>
                <a:gd name="connsiteX44" fmla="*/ 3909204 w 3981450"/>
                <a:gd name="connsiteY44" fmla="*/ 3888622 h 6856812"/>
                <a:gd name="connsiteX45" fmla="*/ 3890944 w 3981450"/>
                <a:gd name="connsiteY45" fmla="*/ 3909256 h 6856812"/>
                <a:gd name="connsiteX46" fmla="*/ 3869509 w 3981450"/>
                <a:gd name="connsiteY46" fmla="*/ 3926716 h 6856812"/>
                <a:gd name="connsiteX47" fmla="*/ 3846486 w 3981450"/>
                <a:gd name="connsiteY47" fmla="*/ 3943382 h 6856812"/>
                <a:gd name="connsiteX48" fmla="*/ 3821080 w 3981450"/>
                <a:gd name="connsiteY48" fmla="*/ 3956874 h 6856812"/>
                <a:gd name="connsiteX49" fmla="*/ 3794882 w 3981450"/>
                <a:gd name="connsiteY49" fmla="*/ 3969572 h 6856812"/>
                <a:gd name="connsiteX50" fmla="*/ 3780591 w 3981450"/>
                <a:gd name="connsiteY50" fmla="*/ 3974334 h 6856812"/>
                <a:gd name="connsiteX51" fmla="*/ 3765507 w 3981450"/>
                <a:gd name="connsiteY51" fmla="*/ 3978302 h 6856812"/>
                <a:gd name="connsiteX52" fmla="*/ 3747247 w 3981450"/>
                <a:gd name="connsiteY52" fmla="*/ 3982270 h 6856812"/>
                <a:gd name="connsiteX53" fmla="*/ 3728193 w 3981450"/>
                <a:gd name="connsiteY53" fmla="*/ 3986239 h 6856812"/>
                <a:gd name="connsiteX54" fmla="*/ 3710727 w 3981450"/>
                <a:gd name="connsiteY54" fmla="*/ 3987032 h 6856812"/>
                <a:gd name="connsiteX55" fmla="*/ 3691674 w 3981450"/>
                <a:gd name="connsiteY55" fmla="*/ 3988619 h 6856812"/>
                <a:gd name="connsiteX56" fmla="*/ 3667856 w 3981450"/>
                <a:gd name="connsiteY56" fmla="*/ 3987032 h 6856812"/>
                <a:gd name="connsiteX57" fmla="*/ 3643245 w 3981450"/>
                <a:gd name="connsiteY57" fmla="*/ 3984651 h 6856812"/>
                <a:gd name="connsiteX58" fmla="*/ 3621016 w 3981450"/>
                <a:gd name="connsiteY58" fmla="*/ 3979889 h 6856812"/>
                <a:gd name="connsiteX59" fmla="*/ 3597992 w 3981450"/>
                <a:gd name="connsiteY59" fmla="*/ 3973540 h 6856812"/>
                <a:gd name="connsiteX60" fmla="*/ 3576557 w 3981450"/>
                <a:gd name="connsiteY60" fmla="*/ 3964810 h 6856812"/>
                <a:gd name="connsiteX61" fmla="*/ 3555121 w 3981450"/>
                <a:gd name="connsiteY61" fmla="*/ 3954493 h 6856812"/>
                <a:gd name="connsiteX62" fmla="*/ 3535274 w 3981450"/>
                <a:gd name="connsiteY62" fmla="*/ 3943382 h 6856812"/>
                <a:gd name="connsiteX63" fmla="*/ 3516220 w 3981450"/>
                <a:gd name="connsiteY63" fmla="*/ 3929097 h 6856812"/>
                <a:gd name="connsiteX64" fmla="*/ 3497166 w 3981450"/>
                <a:gd name="connsiteY64" fmla="*/ 3914018 h 6856812"/>
                <a:gd name="connsiteX65" fmla="*/ 3481288 w 3981450"/>
                <a:gd name="connsiteY65" fmla="*/ 3898145 h 6856812"/>
                <a:gd name="connsiteX66" fmla="*/ 3465410 w 3981450"/>
                <a:gd name="connsiteY66" fmla="*/ 3879892 h 6856812"/>
                <a:gd name="connsiteX67" fmla="*/ 3451913 w 3981450"/>
                <a:gd name="connsiteY67" fmla="*/ 3860844 h 6856812"/>
                <a:gd name="connsiteX68" fmla="*/ 3438417 w 3981450"/>
                <a:gd name="connsiteY68" fmla="*/ 3841004 h 6856812"/>
                <a:gd name="connsiteX69" fmla="*/ 3428096 w 3981450"/>
                <a:gd name="connsiteY69" fmla="*/ 3819575 h 6856812"/>
                <a:gd name="connsiteX70" fmla="*/ 3417775 w 3981450"/>
                <a:gd name="connsiteY70" fmla="*/ 3796560 h 6856812"/>
                <a:gd name="connsiteX71" fmla="*/ 3410630 w 3981450"/>
                <a:gd name="connsiteY71" fmla="*/ 3772751 h 6856812"/>
                <a:gd name="connsiteX72" fmla="*/ 3147846 w 3981450"/>
                <a:gd name="connsiteY72" fmla="*/ 2790233 h 6856812"/>
                <a:gd name="connsiteX73" fmla="*/ 3144671 w 3981450"/>
                <a:gd name="connsiteY73" fmla="*/ 2777534 h 6856812"/>
                <a:gd name="connsiteX74" fmla="*/ 3138320 w 3981450"/>
                <a:gd name="connsiteY74" fmla="*/ 2764836 h 6856812"/>
                <a:gd name="connsiteX75" fmla="*/ 3132762 w 3981450"/>
                <a:gd name="connsiteY75" fmla="*/ 2753725 h 6856812"/>
                <a:gd name="connsiteX76" fmla="*/ 3125617 w 3981450"/>
                <a:gd name="connsiteY76" fmla="*/ 2743408 h 6856812"/>
                <a:gd name="connsiteX77" fmla="*/ 3117678 w 3981450"/>
                <a:gd name="connsiteY77" fmla="*/ 2733091 h 6856812"/>
                <a:gd name="connsiteX78" fmla="*/ 3108945 w 3981450"/>
                <a:gd name="connsiteY78" fmla="*/ 2723567 h 6856812"/>
                <a:gd name="connsiteX79" fmla="*/ 3098624 w 3981450"/>
                <a:gd name="connsiteY79" fmla="*/ 2715631 h 6856812"/>
                <a:gd name="connsiteX80" fmla="*/ 3087509 w 3981450"/>
                <a:gd name="connsiteY80" fmla="*/ 2707694 h 6856812"/>
                <a:gd name="connsiteX81" fmla="*/ 2909674 w 3981450"/>
                <a:gd name="connsiteY81" fmla="*/ 2580713 h 6856812"/>
                <a:gd name="connsiteX82" fmla="*/ 3034318 w 3981450"/>
                <a:gd name="connsiteY82" fmla="*/ 3035465 h 6856812"/>
                <a:gd name="connsiteX83" fmla="*/ 3043050 w 3981450"/>
                <a:gd name="connsiteY83" fmla="*/ 3067211 h 6856812"/>
                <a:gd name="connsiteX84" fmla="*/ 3049402 w 3981450"/>
                <a:gd name="connsiteY84" fmla="*/ 3098956 h 6856812"/>
                <a:gd name="connsiteX85" fmla="*/ 3053371 w 3981450"/>
                <a:gd name="connsiteY85" fmla="*/ 3131495 h 6856812"/>
                <a:gd name="connsiteX86" fmla="*/ 3057341 w 3981450"/>
                <a:gd name="connsiteY86" fmla="*/ 3163240 h 6856812"/>
                <a:gd name="connsiteX87" fmla="*/ 3059722 w 3981450"/>
                <a:gd name="connsiteY87" fmla="*/ 3178319 h 6856812"/>
                <a:gd name="connsiteX88" fmla="*/ 3062104 w 3981450"/>
                <a:gd name="connsiteY88" fmla="*/ 3193399 h 6856812"/>
                <a:gd name="connsiteX89" fmla="*/ 3139113 w 3981450"/>
                <a:gd name="connsiteY89" fmla="*/ 4625907 h 6856812"/>
                <a:gd name="connsiteX90" fmla="*/ 3141495 w 3981450"/>
                <a:gd name="connsiteY90" fmla="*/ 4660034 h 6856812"/>
                <a:gd name="connsiteX91" fmla="*/ 3145464 w 3981450"/>
                <a:gd name="connsiteY91" fmla="*/ 4694160 h 6856812"/>
                <a:gd name="connsiteX92" fmla="*/ 3149434 w 3981450"/>
                <a:gd name="connsiteY92" fmla="*/ 4728286 h 6856812"/>
                <a:gd name="connsiteX93" fmla="*/ 3153404 w 3981450"/>
                <a:gd name="connsiteY93" fmla="*/ 4762412 h 6856812"/>
                <a:gd name="connsiteX94" fmla="*/ 3159755 w 3981450"/>
                <a:gd name="connsiteY94" fmla="*/ 4796539 h 6856812"/>
                <a:gd name="connsiteX95" fmla="*/ 3166106 w 3981450"/>
                <a:gd name="connsiteY95" fmla="*/ 4829078 h 6856812"/>
                <a:gd name="connsiteX96" fmla="*/ 3171664 w 3981450"/>
                <a:gd name="connsiteY96" fmla="*/ 4863204 h 6856812"/>
                <a:gd name="connsiteX97" fmla="*/ 3179603 w 3981450"/>
                <a:gd name="connsiteY97" fmla="*/ 4895743 h 6856812"/>
                <a:gd name="connsiteX98" fmla="*/ 3188336 w 3981450"/>
                <a:gd name="connsiteY98" fmla="*/ 4928282 h 6856812"/>
                <a:gd name="connsiteX99" fmla="*/ 3197068 w 3981450"/>
                <a:gd name="connsiteY99" fmla="*/ 4961615 h 6856812"/>
                <a:gd name="connsiteX100" fmla="*/ 3207390 w 3981450"/>
                <a:gd name="connsiteY100" fmla="*/ 4994154 h 6856812"/>
                <a:gd name="connsiteX101" fmla="*/ 3218504 w 3981450"/>
                <a:gd name="connsiteY101" fmla="*/ 5025899 h 6856812"/>
                <a:gd name="connsiteX102" fmla="*/ 3230413 w 3981450"/>
                <a:gd name="connsiteY102" fmla="*/ 5058438 h 6856812"/>
                <a:gd name="connsiteX103" fmla="*/ 3242322 w 3981450"/>
                <a:gd name="connsiteY103" fmla="*/ 5090183 h 6856812"/>
                <a:gd name="connsiteX104" fmla="*/ 3256612 w 3981450"/>
                <a:gd name="connsiteY104" fmla="*/ 5121135 h 6856812"/>
                <a:gd name="connsiteX105" fmla="*/ 3270108 w 3981450"/>
                <a:gd name="connsiteY105" fmla="*/ 5152880 h 6856812"/>
                <a:gd name="connsiteX106" fmla="*/ 3883005 w 3981450"/>
                <a:gd name="connsiteY106" fmla="*/ 6325871 h 6856812"/>
                <a:gd name="connsiteX107" fmla="*/ 3891738 w 3981450"/>
                <a:gd name="connsiteY107" fmla="*/ 6342538 h 6856812"/>
                <a:gd name="connsiteX108" fmla="*/ 3899678 w 3981450"/>
                <a:gd name="connsiteY108" fmla="*/ 6359997 h 6856812"/>
                <a:gd name="connsiteX109" fmla="*/ 3906029 w 3981450"/>
                <a:gd name="connsiteY109" fmla="*/ 6376664 h 6856812"/>
                <a:gd name="connsiteX110" fmla="*/ 3910792 w 3981450"/>
                <a:gd name="connsiteY110" fmla="*/ 6394124 h 6856812"/>
                <a:gd name="connsiteX111" fmla="*/ 3915556 w 3981450"/>
                <a:gd name="connsiteY111" fmla="*/ 6411584 h 6856812"/>
                <a:gd name="connsiteX112" fmla="*/ 3919525 w 3981450"/>
                <a:gd name="connsiteY112" fmla="*/ 6429837 h 6856812"/>
                <a:gd name="connsiteX113" fmla="*/ 3921907 w 3981450"/>
                <a:gd name="connsiteY113" fmla="*/ 6447297 h 6856812"/>
                <a:gd name="connsiteX114" fmla="*/ 3923495 w 3981450"/>
                <a:gd name="connsiteY114" fmla="*/ 6464757 h 6856812"/>
                <a:gd name="connsiteX115" fmla="*/ 3925082 w 3981450"/>
                <a:gd name="connsiteY115" fmla="*/ 6482217 h 6856812"/>
                <a:gd name="connsiteX116" fmla="*/ 3925082 w 3981450"/>
                <a:gd name="connsiteY116" fmla="*/ 6500471 h 6856812"/>
                <a:gd name="connsiteX117" fmla="*/ 3925082 w 3981450"/>
                <a:gd name="connsiteY117" fmla="*/ 6516343 h 6856812"/>
                <a:gd name="connsiteX118" fmla="*/ 3921907 w 3981450"/>
                <a:gd name="connsiteY118" fmla="*/ 6533803 h 6856812"/>
                <a:gd name="connsiteX119" fmla="*/ 3921113 w 3981450"/>
                <a:gd name="connsiteY119" fmla="*/ 6552057 h 6856812"/>
                <a:gd name="connsiteX120" fmla="*/ 3917144 w 3981450"/>
                <a:gd name="connsiteY120" fmla="*/ 6569517 h 6856812"/>
                <a:gd name="connsiteX121" fmla="*/ 3913174 w 3981450"/>
                <a:gd name="connsiteY121" fmla="*/ 6586183 h 6856812"/>
                <a:gd name="connsiteX122" fmla="*/ 3908410 w 3981450"/>
                <a:gd name="connsiteY122" fmla="*/ 6602056 h 6856812"/>
                <a:gd name="connsiteX123" fmla="*/ 3903647 w 3981450"/>
                <a:gd name="connsiteY123" fmla="*/ 6618722 h 6856812"/>
                <a:gd name="connsiteX124" fmla="*/ 3897296 w 3981450"/>
                <a:gd name="connsiteY124" fmla="*/ 6635388 h 6856812"/>
                <a:gd name="connsiteX125" fmla="*/ 3889357 w 3981450"/>
                <a:gd name="connsiteY125" fmla="*/ 6651261 h 6856812"/>
                <a:gd name="connsiteX126" fmla="*/ 3882212 w 3981450"/>
                <a:gd name="connsiteY126" fmla="*/ 6666340 h 6856812"/>
                <a:gd name="connsiteX127" fmla="*/ 3872684 w 3981450"/>
                <a:gd name="connsiteY127" fmla="*/ 6681419 h 6856812"/>
                <a:gd name="connsiteX128" fmla="*/ 3863158 w 3981450"/>
                <a:gd name="connsiteY128" fmla="*/ 6696498 h 6856812"/>
                <a:gd name="connsiteX129" fmla="*/ 3852837 w 3981450"/>
                <a:gd name="connsiteY129" fmla="*/ 6710784 h 6856812"/>
                <a:gd name="connsiteX130" fmla="*/ 3842516 w 3981450"/>
                <a:gd name="connsiteY130" fmla="*/ 6724275 h 6856812"/>
                <a:gd name="connsiteX131" fmla="*/ 3829814 w 3981450"/>
                <a:gd name="connsiteY131" fmla="*/ 6738561 h 6856812"/>
                <a:gd name="connsiteX132" fmla="*/ 3818699 w 3981450"/>
                <a:gd name="connsiteY132" fmla="*/ 6751259 h 6856812"/>
                <a:gd name="connsiteX133" fmla="*/ 3805202 w 3981450"/>
                <a:gd name="connsiteY133" fmla="*/ 6763163 h 6856812"/>
                <a:gd name="connsiteX134" fmla="*/ 3790912 w 3981450"/>
                <a:gd name="connsiteY134" fmla="*/ 6775068 h 6856812"/>
                <a:gd name="connsiteX135" fmla="*/ 3777416 w 3981450"/>
                <a:gd name="connsiteY135" fmla="*/ 6786179 h 6856812"/>
                <a:gd name="connsiteX136" fmla="*/ 3762331 w 3981450"/>
                <a:gd name="connsiteY136" fmla="*/ 6796496 h 6856812"/>
                <a:gd name="connsiteX137" fmla="*/ 3747247 w 3981450"/>
                <a:gd name="connsiteY137" fmla="*/ 6806020 h 6856812"/>
                <a:gd name="connsiteX138" fmla="*/ 3730575 w 3981450"/>
                <a:gd name="connsiteY138" fmla="*/ 6815543 h 6856812"/>
                <a:gd name="connsiteX139" fmla="*/ 3710727 w 3981450"/>
                <a:gd name="connsiteY139" fmla="*/ 6825067 h 6856812"/>
                <a:gd name="connsiteX140" fmla="*/ 3689292 w 3981450"/>
                <a:gd name="connsiteY140" fmla="*/ 6833797 h 6856812"/>
                <a:gd name="connsiteX141" fmla="*/ 3668650 w 3981450"/>
                <a:gd name="connsiteY141" fmla="*/ 6840146 h 6856812"/>
                <a:gd name="connsiteX142" fmla="*/ 3647214 w 3981450"/>
                <a:gd name="connsiteY142" fmla="*/ 6846495 h 6856812"/>
                <a:gd name="connsiteX143" fmla="*/ 3625779 w 3981450"/>
                <a:gd name="connsiteY143" fmla="*/ 6850463 h 6856812"/>
                <a:gd name="connsiteX144" fmla="*/ 3604344 w 3981450"/>
                <a:gd name="connsiteY144" fmla="*/ 6854431 h 6856812"/>
                <a:gd name="connsiteX145" fmla="*/ 3584496 w 3981450"/>
                <a:gd name="connsiteY145" fmla="*/ 6856812 h 6856812"/>
                <a:gd name="connsiteX146" fmla="*/ 3563060 w 3981450"/>
                <a:gd name="connsiteY146" fmla="*/ 6856812 h 6856812"/>
                <a:gd name="connsiteX147" fmla="*/ 3537655 w 3981450"/>
                <a:gd name="connsiteY147" fmla="*/ 6855225 h 6856812"/>
                <a:gd name="connsiteX148" fmla="*/ 3513838 w 3981450"/>
                <a:gd name="connsiteY148" fmla="*/ 6852844 h 6856812"/>
                <a:gd name="connsiteX149" fmla="*/ 3490021 w 3981450"/>
                <a:gd name="connsiteY149" fmla="*/ 6848876 h 6856812"/>
                <a:gd name="connsiteX150" fmla="*/ 3465410 w 3981450"/>
                <a:gd name="connsiteY150" fmla="*/ 6844114 h 6856812"/>
                <a:gd name="connsiteX151" fmla="*/ 3443180 w 3981450"/>
                <a:gd name="connsiteY151" fmla="*/ 6836971 h 6856812"/>
                <a:gd name="connsiteX152" fmla="*/ 3420177 w 3981450"/>
                <a:gd name="connsiteY152" fmla="*/ 6827448 h 6856812"/>
                <a:gd name="connsiteX153" fmla="*/ 3397928 w 3981450"/>
                <a:gd name="connsiteY153" fmla="*/ 6817924 h 6856812"/>
                <a:gd name="connsiteX154" fmla="*/ 3377286 w 3981450"/>
                <a:gd name="connsiteY154" fmla="*/ 6806020 h 6856812"/>
                <a:gd name="connsiteX155" fmla="*/ 3355850 w 3981450"/>
                <a:gd name="connsiteY155" fmla="*/ 6792528 h 6856812"/>
                <a:gd name="connsiteX156" fmla="*/ 3336796 w 3981450"/>
                <a:gd name="connsiteY156" fmla="*/ 6779036 h 6856812"/>
                <a:gd name="connsiteX157" fmla="*/ 3318536 w 3981450"/>
                <a:gd name="connsiteY157" fmla="*/ 6762370 h 6856812"/>
                <a:gd name="connsiteX158" fmla="*/ 3299483 w 3981450"/>
                <a:gd name="connsiteY158" fmla="*/ 6744910 h 6856812"/>
                <a:gd name="connsiteX159" fmla="*/ 3282811 w 3981450"/>
                <a:gd name="connsiteY159" fmla="*/ 6725863 h 6856812"/>
                <a:gd name="connsiteX160" fmla="*/ 3267726 w 3981450"/>
                <a:gd name="connsiteY160" fmla="*/ 6705228 h 6856812"/>
                <a:gd name="connsiteX161" fmla="*/ 3254230 w 3981450"/>
                <a:gd name="connsiteY161" fmla="*/ 6683800 h 6856812"/>
                <a:gd name="connsiteX162" fmla="*/ 3241528 w 3981450"/>
                <a:gd name="connsiteY162" fmla="*/ 6662372 h 6856812"/>
                <a:gd name="connsiteX163" fmla="*/ 2623867 w 3981450"/>
                <a:gd name="connsiteY163" fmla="*/ 5480651 h 6856812"/>
                <a:gd name="connsiteX164" fmla="*/ 2615928 w 3981450"/>
                <a:gd name="connsiteY164" fmla="*/ 5465572 h 6856812"/>
                <a:gd name="connsiteX165" fmla="*/ 2594492 w 3981450"/>
                <a:gd name="connsiteY165" fmla="*/ 5418748 h 6856812"/>
                <a:gd name="connsiteX166" fmla="*/ 2573057 w 3981450"/>
                <a:gd name="connsiteY166" fmla="*/ 5371130 h 6856812"/>
                <a:gd name="connsiteX167" fmla="*/ 2554003 w 3981450"/>
                <a:gd name="connsiteY167" fmla="*/ 5321924 h 6856812"/>
                <a:gd name="connsiteX168" fmla="*/ 2536537 w 3981450"/>
                <a:gd name="connsiteY168" fmla="*/ 5274306 h 6856812"/>
                <a:gd name="connsiteX169" fmla="*/ 2519865 w 3981450"/>
                <a:gd name="connsiteY169" fmla="*/ 5225101 h 6856812"/>
                <a:gd name="connsiteX170" fmla="*/ 2503987 w 3981450"/>
                <a:gd name="connsiteY170" fmla="*/ 5174308 h 6856812"/>
                <a:gd name="connsiteX171" fmla="*/ 2489696 w 3981450"/>
                <a:gd name="connsiteY171" fmla="*/ 5125103 h 6856812"/>
                <a:gd name="connsiteX172" fmla="*/ 2476994 w 3981450"/>
                <a:gd name="connsiteY172" fmla="*/ 5075104 h 6856812"/>
                <a:gd name="connsiteX173" fmla="*/ 2465085 w 3981450"/>
                <a:gd name="connsiteY173" fmla="*/ 5024312 h 6856812"/>
                <a:gd name="connsiteX174" fmla="*/ 2454764 w 3981450"/>
                <a:gd name="connsiteY174" fmla="*/ 4974313 h 6856812"/>
                <a:gd name="connsiteX175" fmla="*/ 2444444 w 3981450"/>
                <a:gd name="connsiteY175" fmla="*/ 4923520 h 6856812"/>
                <a:gd name="connsiteX176" fmla="*/ 2437298 w 3981450"/>
                <a:gd name="connsiteY176" fmla="*/ 4871934 h 6856812"/>
                <a:gd name="connsiteX177" fmla="*/ 2429359 w 3981450"/>
                <a:gd name="connsiteY177" fmla="*/ 4821141 h 6856812"/>
                <a:gd name="connsiteX178" fmla="*/ 2423008 w 3981450"/>
                <a:gd name="connsiteY178" fmla="*/ 4769555 h 6856812"/>
                <a:gd name="connsiteX179" fmla="*/ 2419038 w 3981450"/>
                <a:gd name="connsiteY179" fmla="*/ 4717175 h 6856812"/>
                <a:gd name="connsiteX180" fmla="*/ 2415863 w 3981450"/>
                <a:gd name="connsiteY180" fmla="*/ 4665589 h 6856812"/>
                <a:gd name="connsiteX181" fmla="*/ 2373786 w 3981450"/>
                <a:gd name="connsiteY181" fmla="*/ 3891796 h 6856812"/>
                <a:gd name="connsiteX182" fmla="*/ 2369022 w 3981450"/>
                <a:gd name="connsiteY182" fmla="*/ 3891796 h 6856812"/>
                <a:gd name="connsiteX183" fmla="*/ 1663238 w 3981450"/>
                <a:gd name="connsiteY183" fmla="*/ 4856855 h 6856812"/>
                <a:gd name="connsiteX184" fmla="*/ 1632276 w 3981450"/>
                <a:gd name="connsiteY184" fmla="*/ 4899711 h 6856812"/>
                <a:gd name="connsiteX185" fmla="*/ 1604489 w 3981450"/>
                <a:gd name="connsiteY185" fmla="*/ 4944155 h 6856812"/>
                <a:gd name="connsiteX186" fmla="*/ 1580672 w 3981450"/>
                <a:gd name="connsiteY186" fmla="*/ 4990185 h 6856812"/>
                <a:gd name="connsiteX187" fmla="*/ 1558442 w 3981450"/>
                <a:gd name="connsiteY187" fmla="*/ 5037010 h 6856812"/>
                <a:gd name="connsiteX188" fmla="*/ 1537801 w 3981450"/>
                <a:gd name="connsiteY188" fmla="*/ 5083834 h 6856812"/>
                <a:gd name="connsiteX189" fmla="*/ 1518747 w 3981450"/>
                <a:gd name="connsiteY189" fmla="*/ 5133039 h 6856812"/>
                <a:gd name="connsiteX190" fmla="*/ 1503662 w 3981450"/>
                <a:gd name="connsiteY190" fmla="*/ 5183038 h 6856812"/>
                <a:gd name="connsiteX191" fmla="*/ 1491754 w 3981450"/>
                <a:gd name="connsiteY191" fmla="*/ 5233831 h 6856812"/>
                <a:gd name="connsiteX192" fmla="*/ 1191657 w 3981450"/>
                <a:gd name="connsiteY192" fmla="*/ 6573485 h 6856812"/>
                <a:gd name="connsiteX193" fmla="*/ 1183717 w 3981450"/>
                <a:gd name="connsiteY193" fmla="*/ 6604437 h 6856812"/>
                <a:gd name="connsiteX194" fmla="*/ 1172603 w 3981450"/>
                <a:gd name="connsiteY194" fmla="*/ 6633801 h 6856812"/>
                <a:gd name="connsiteX195" fmla="*/ 1159900 w 3981450"/>
                <a:gd name="connsiteY195" fmla="*/ 6662372 h 6856812"/>
                <a:gd name="connsiteX196" fmla="*/ 1143228 w 3981450"/>
                <a:gd name="connsiteY196" fmla="*/ 6689356 h 6856812"/>
                <a:gd name="connsiteX197" fmla="*/ 1125762 w 3981450"/>
                <a:gd name="connsiteY197" fmla="*/ 6714752 h 6856812"/>
                <a:gd name="connsiteX198" fmla="*/ 1106708 w 3981450"/>
                <a:gd name="connsiteY198" fmla="*/ 6736974 h 6856812"/>
                <a:gd name="connsiteX199" fmla="*/ 1085273 w 3981450"/>
                <a:gd name="connsiteY199" fmla="*/ 6758402 h 6856812"/>
                <a:gd name="connsiteX200" fmla="*/ 1063043 w 3981450"/>
                <a:gd name="connsiteY200" fmla="*/ 6779036 h 6856812"/>
                <a:gd name="connsiteX201" fmla="*/ 1038432 w 3981450"/>
                <a:gd name="connsiteY201" fmla="*/ 6796496 h 6856812"/>
                <a:gd name="connsiteX202" fmla="*/ 1013821 w 3981450"/>
                <a:gd name="connsiteY202" fmla="*/ 6811575 h 6856812"/>
                <a:gd name="connsiteX203" fmla="*/ 986034 w 3981450"/>
                <a:gd name="connsiteY203" fmla="*/ 6825067 h 6856812"/>
                <a:gd name="connsiteX204" fmla="*/ 958248 w 3981450"/>
                <a:gd name="connsiteY204" fmla="*/ 6836971 h 6856812"/>
                <a:gd name="connsiteX205" fmla="*/ 928873 w 3981450"/>
                <a:gd name="connsiteY205" fmla="*/ 6845701 h 6856812"/>
                <a:gd name="connsiteX206" fmla="*/ 898704 w 3981450"/>
                <a:gd name="connsiteY206" fmla="*/ 6852050 h 6856812"/>
                <a:gd name="connsiteX207" fmla="*/ 868536 w 3981450"/>
                <a:gd name="connsiteY207" fmla="*/ 6855225 h 6856812"/>
                <a:gd name="connsiteX208" fmla="*/ 838367 w 3981450"/>
                <a:gd name="connsiteY208" fmla="*/ 6856812 h 6856812"/>
                <a:gd name="connsiteX209" fmla="*/ 818520 w 3981450"/>
                <a:gd name="connsiteY209" fmla="*/ 6856812 h 6856812"/>
                <a:gd name="connsiteX210" fmla="*/ 797878 w 3981450"/>
                <a:gd name="connsiteY210" fmla="*/ 6854431 h 6856812"/>
                <a:gd name="connsiteX211" fmla="*/ 778824 w 3981450"/>
                <a:gd name="connsiteY211" fmla="*/ 6852050 h 6856812"/>
                <a:gd name="connsiteX212" fmla="*/ 758977 w 3981450"/>
                <a:gd name="connsiteY212" fmla="*/ 6848082 h 6856812"/>
                <a:gd name="connsiteX213" fmla="*/ 739923 w 3981450"/>
                <a:gd name="connsiteY213" fmla="*/ 6843320 h 6856812"/>
                <a:gd name="connsiteX214" fmla="*/ 722457 w 3981450"/>
                <a:gd name="connsiteY214" fmla="*/ 6837765 h 6856812"/>
                <a:gd name="connsiteX215" fmla="*/ 705785 w 3981450"/>
                <a:gd name="connsiteY215" fmla="*/ 6831416 h 6856812"/>
                <a:gd name="connsiteX216" fmla="*/ 688319 w 3981450"/>
                <a:gd name="connsiteY216" fmla="*/ 6825067 h 6856812"/>
                <a:gd name="connsiteX217" fmla="*/ 671647 w 3981450"/>
                <a:gd name="connsiteY217" fmla="*/ 6816337 h 6856812"/>
                <a:gd name="connsiteX218" fmla="*/ 656562 w 3981450"/>
                <a:gd name="connsiteY218" fmla="*/ 6809194 h 6856812"/>
                <a:gd name="connsiteX219" fmla="*/ 641478 w 3981450"/>
                <a:gd name="connsiteY219" fmla="*/ 6798877 h 6856812"/>
                <a:gd name="connsiteX220" fmla="*/ 626394 w 3981450"/>
                <a:gd name="connsiteY220" fmla="*/ 6788560 h 6856812"/>
                <a:gd name="connsiteX221" fmla="*/ 612897 w 3981450"/>
                <a:gd name="connsiteY221" fmla="*/ 6779036 h 6856812"/>
                <a:gd name="connsiteX222" fmla="*/ 598607 w 3981450"/>
                <a:gd name="connsiteY222" fmla="*/ 6767132 h 6856812"/>
                <a:gd name="connsiteX223" fmla="*/ 585905 w 3981450"/>
                <a:gd name="connsiteY223" fmla="*/ 6756021 h 6856812"/>
                <a:gd name="connsiteX224" fmla="*/ 573202 w 3981450"/>
                <a:gd name="connsiteY224" fmla="*/ 6743323 h 6856812"/>
                <a:gd name="connsiteX225" fmla="*/ 562087 w 3981450"/>
                <a:gd name="connsiteY225" fmla="*/ 6730624 h 6856812"/>
                <a:gd name="connsiteX226" fmla="*/ 550973 w 3981450"/>
                <a:gd name="connsiteY226" fmla="*/ 6717133 h 6856812"/>
                <a:gd name="connsiteX227" fmla="*/ 540652 w 3981450"/>
                <a:gd name="connsiteY227" fmla="*/ 6702847 h 6856812"/>
                <a:gd name="connsiteX228" fmla="*/ 531919 w 3981450"/>
                <a:gd name="connsiteY228" fmla="*/ 6687768 h 6856812"/>
                <a:gd name="connsiteX229" fmla="*/ 521598 w 3981450"/>
                <a:gd name="connsiteY229" fmla="*/ 6672689 h 6856812"/>
                <a:gd name="connsiteX230" fmla="*/ 514453 w 3981450"/>
                <a:gd name="connsiteY230" fmla="*/ 6657610 h 6856812"/>
                <a:gd name="connsiteX231" fmla="*/ 506514 w 3981450"/>
                <a:gd name="connsiteY231" fmla="*/ 6642531 h 6856812"/>
                <a:gd name="connsiteX232" fmla="*/ 500162 w 3981450"/>
                <a:gd name="connsiteY232" fmla="*/ 6625865 h 6856812"/>
                <a:gd name="connsiteX233" fmla="*/ 493811 w 3981450"/>
                <a:gd name="connsiteY233" fmla="*/ 6609992 h 6856812"/>
                <a:gd name="connsiteX234" fmla="*/ 489048 w 3981450"/>
                <a:gd name="connsiteY234" fmla="*/ 6593326 h 6856812"/>
                <a:gd name="connsiteX235" fmla="*/ 484284 w 3981450"/>
                <a:gd name="connsiteY235" fmla="*/ 6575866 h 6856812"/>
                <a:gd name="connsiteX236" fmla="*/ 480315 w 3981450"/>
                <a:gd name="connsiteY236" fmla="*/ 6559200 h 6856812"/>
                <a:gd name="connsiteX237" fmla="*/ 477933 w 3981450"/>
                <a:gd name="connsiteY237" fmla="*/ 6541740 h 6856812"/>
                <a:gd name="connsiteX238" fmla="*/ 476345 w 3981450"/>
                <a:gd name="connsiteY238" fmla="*/ 6524280 h 6856812"/>
                <a:gd name="connsiteX239" fmla="*/ 475551 w 3981450"/>
                <a:gd name="connsiteY239" fmla="*/ 6506820 h 6856812"/>
                <a:gd name="connsiteX240" fmla="*/ 475551 w 3981450"/>
                <a:gd name="connsiteY240" fmla="*/ 6487773 h 6856812"/>
                <a:gd name="connsiteX241" fmla="*/ 475551 w 3981450"/>
                <a:gd name="connsiteY241" fmla="*/ 6470313 h 6856812"/>
                <a:gd name="connsiteX242" fmla="*/ 477933 w 3981450"/>
                <a:gd name="connsiteY242" fmla="*/ 6451265 h 6856812"/>
                <a:gd name="connsiteX243" fmla="*/ 480315 w 3981450"/>
                <a:gd name="connsiteY243" fmla="*/ 6433012 h 6856812"/>
                <a:gd name="connsiteX244" fmla="*/ 484284 w 3981450"/>
                <a:gd name="connsiteY244" fmla="*/ 6414758 h 6856812"/>
                <a:gd name="connsiteX245" fmla="*/ 784382 w 3981450"/>
                <a:gd name="connsiteY245" fmla="*/ 5075104 h 6856812"/>
                <a:gd name="connsiteX246" fmla="*/ 793908 w 3981450"/>
                <a:gd name="connsiteY246" fmla="*/ 5032248 h 6856812"/>
                <a:gd name="connsiteX247" fmla="*/ 805817 w 3981450"/>
                <a:gd name="connsiteY247" fmla="*/ 4987804 h 6856812"/>
                <a:gd name="connsiteX248" fmla="*/ 818520 w 3981450"/>
                <a:gd name="connsiteY248" fmla="*/ 4944948 h 6856812"/>
                <a:gd name="connsiteX249" fmla="*/ 832017 w 3981450"/>
                <a:gd name="connsiteY249" fmla="*/ 4902092 h 6856812"/>
                <a:gd name="connsiteX250" fmla="*/ 845513 w 3981450"/>
                <a:gd name="connsiteY250" fmla="*/ 4860823 h 6856812"/>
                <a:gd name="connsiteX251" fmla="*/ 862185 w 3981450"/>
                <a:gd name="connsiteY251" fmla="*/ 4818760 h 6856812"/>
                <a:gd name="connsiteX252" fmla="*/ 878857 w 3981450"/>
                <a:gd name="connsiteY252" fmla="*/ 4777491 h 6856812"/>
                <a:gd name="connsiteX253" fmla="*/ 896323 w 3981450"/>
                <a:gd name="connsiteY253" fmla="*/ 4737016 h 6856812"/>
                <a:gd name="connsiteX254" fmla="*/ 915376 w 3981450"/>
                <a:gd name="connsiteY254" fmla="*/ 4696541 h 6856812"/>
                <a:gd name="connsiteX255" fmla="*/ 935224 w 3981450"/>
                <a:gd name="connsiteY255" fmla="*/ 4656065 h 6856812"/>
                <a:gd name="connsiteX256" fmla="*/ 956660 w 3981450"/>
                <a:gd name="connsiteY256" fmla="*/ 4617177 h 6856812"/>
                <a:gd name="connsiteX257" fmla="*/ 978095 w 3981450"/>
                <a:gd name="connsiteY257" fmla="*/ 4579877 h 6856812"/>
                <a:gd name="connsiteX258" fmla="*/ 1001912 w 3981450"/>
                <a:gd name="connsiteY258" fmla="*/ 4540195 h 6856812"/>
                <a:gd name="connsiteX259" fmla="*/ 1026524 w 3981450"/>
                <a:gd name="connsiteY259" fmla="*/ 4502894 h 6856812"/>
                <a:gd name="connsiteX260" fmla="*/ 1051135 w 3981450"/>
                <a:gd name="connsiteY260" fmla="*/ 4466387 h 6856812"/>
                <a:gd name="connsiteX261" fmla="*/ 1076540 w 3981450"/>
                <a:gd name="connsiteY261" fmla="*/ 4429880 h 6856812"/>
                <a:gd name="connsiteX262" fmla="*/ 1764064 w 3981450"/>
                <a:gd name="connsiteY262" fmla="*/ 3489424 h 6856812"/>
                <a:gd name="connsiteX263" fmla="*/ 1754537 w 3981450"/>
                <a:gd name="connsiteY263" fmla="*/ 3466408 h 6856812"/>
                <a:gd name="connsiteX264" fmla="*/ 1745011 w 3981450"/>
                <a:gd name="connsiteY264" fmla="*/ 3442599 h 6856812"/>
                <a:gd name="connsiteX265" fmla="*/ 1737071 w 3981450"/>
                <a:gd name="connsiteY265" fmla="*/ 3420378 h 6856812"/>
                <a:gd name="connsiteX266" fmla="*/ 1729926 w 3981450"/>
                <a:gd name="connsiteY266" fmla="*/ 3396569 h 6856812"/>
                <a:gd name="connsiteX267" fmla="*/ 1530655 w 3981450"/>
                <a:gd name="connsiteY267" fmla="*/ 2676743 h 6856812"/>
                <a:gd name="connsiteX268" fmla="*/ 1413157 w 3981450"/>
                <a:gd name="connsiteY268" fmla="*/ 2837851 h 6856812"/>
                <a:gd name="connsiteX269" fmla="*/ 1393309 w 3981450"/>
                <a:gd name="connsiteY269" fmla="*/ 2864040 h 6856812"/>
                <a:gd name="connsiteX270" fmla="*/ 1371874 w 3981450"/>
                <a:gd name="connsiteY270" fmla="*/ 2891024 h 6856812"/>
                <a:gd name="connsiteX271" fmla="*/ 1350438 w 3981450"/>
                <a:gd name="connsiteY271" fmla="*/ 2917214 h 6856812"/>
                <a:gd name="connsiteX272" fmla="*/ 1329003 w 3981450"/>
                <a:gd name="connsiteY272" fmla="*/ 2942610 h 6856812"/>
                <a:gd name="connsiteX273" fmla="*/ 1305979 w 3981450"/>
                <a:gd name="connsiteY273" fmla="*/ 2966419 h 6856812"/>
                <a:gd name="connsiteX274" fmla="*/ 1282162 w 3981450"/>
                <a:gd name="connsiteY274" fmla="*/ 2990228 h 6856812"/>
                <a:gd name="connsiteX275" fmla="*/ 1258345 w 3981450"/>
                <a:gd name="connsiteY275" fmla="*/ 3013244 h 6856812"/>
                <a:gd name="connsiteX276" fmla="*/ 1234528 w 3981450"/>
                <a:gd name="connsiteY276" fmla="*/ 3035465 h 6856812"/>
                <a:gd name="connsiteX277" fmla="*/ 1209122 w 3981450"/>
                <a:gd name="connsiteY277" fmla="*/ 3056893 h 6856812"/>
                <a:gd name="connsiteX278" fmla="*/ 1182130 w 3981450"/>
                <a:gd name="connsiteY278" fmla="*/ 3078321 h 6856812"/>
                <a:gd name="connsiteX279" fmla="*/ 1157518 w 3981450"/>
                <a:gd name="connsiteY279" fmla="*/ 3098956 h 6856812"/>
                <a:gd name="connsiteX280" fmla="*/ 1129732 w 3981450"/>
                <a:gd name="connsiteY280" fmla="*/ 3118797 h 6856812"/>
                <a:gd name="connsiteX281" fmla="*/ 1102739 w 3981450"/>
                <a:gd name="connsiteY281" fmla="*/ 3137844 h 6856812"/>
                <a:gd name="connsiteX282" fmla="*/ 1074158 w 3981450"/>
                <a:gd name="connsiteY282" fmla="*/ 3156891 h 6856812"/>
                <a:gd name="connsiteX283" fmla="*/ 1046371 w 3981450"/>
                <a:gd name="connsiteY283" fmla="*/ 3174351 h 6856812"/>
                <a:gd name="connsiteX284" fmla="*/ 1016997 w 3981450"/>
                <a:gd name="connsiteY284" fmla="*/ 3191811 h 6856812"/>
                <a:gd name="connsiteX285" fmla="*/ 432680 w 3981450"/>
                <a:gd name="connsiteY285" fmla="*/ 3523550 h 6856812"/>
                <a:gd name="connsiteX286" fmla="*/ 416008 w 3981450"/>
                <a:gd name="connsiteY286" fmla="*/ 3532280 h 6856812"/>
                <a:gd name="connsiteX287" fmla="*/ 398542 w 3981450"/>
                <a:gd name="connsiteY287" fmla="*/ 3540216 h 6856812"/>
                <a:gd name="connsiteX288" fmla="*/ 380282 w 3981450"/>
                <a:gd name="connsiteY288" fmla="*/ 3545772 h 6856812"/>
                <a:gd name="connsiteX289" fmla="*/ 362816 w 3981450"/>
                <a:gd name="connsiteY289" fmla="*/ 3552121 h 6856812"/>
                <a:gd name="connsiteX290" fmla="*/ 343763 w 3981450"/>
                <a:gd name="connsiteY290" fmla="*/ 3556089 h 6856812"/>
                <a:gd name="connsiteX291" fmla="*/ 326297 w 3981450"/>
                <a:gd name="connsiteY291" fmla="*/ 3558470 h 6856812"/>
                <a:gd name="connsiteX292" fmla="*/ 307243 w 3981450"/>
                <a:gd name="connsiteY292" fmla="*/ 3561644 h 6856812"/>
                <a:gd name="connsiteX293" fmla="*/ 289777 w 3981450"/>
                <a:gd name="connsiteY293" fmla="*/ 3561644 h 6856812"/>
                <a:gd name="connsiteX294" fmla="*/ 270723 w 3981450"/>
                <a:gd name="connsiteY294" fmla="*/ 3561644 h 6856812"/>
                <a:gd name="connsiteX295" fmla="*/ 251669 w 3981450"/>
                <a:gd name="connsiteY295" fmla="*/ 3558470 h 6856812"/>
                <a:gd name="connsiteX296" fmla="*/ 233409 w 3981450"/>
                <a:gd name="connsiteY296" fmla="*/ 3556089 h 6856812"/>
                <a:gd name="connsiteX297" fmla="*/ 215149 w 3981450"/>
                <a:gd name="connsiteY297" fmla="*/ 3551327 h 6856812"/>
                <a:gd name="connsiteX298" fmla="*/ 197683 w 3981450"/>
                <a:gd name="connsiteY298" fmla="*/ 3545772 h 6856812"/>
                <a:gd name="connsiteX299" fmla="*/ 180217 w 3981450"/>
                <a:gd name="connsiteY299" fmla="*/ 3540216 h 6856812"/>
                <a:gd name="connsiteX300" fmla="*/ 162751 w 3981450"/>
                <a:gd name="connsiteY300" fmla="*/ 3532280 h 6856812"/>
                <a:gd name="connsiteX301" fmla="*/ 146079 w 3981450"/>
                <a:gd name="connsiteY301" fmla="*/ 3523550 h 6856812"/>
                <a:gd name="connsiteX302" fmla="*/ 129407 w 3981450"/>
                <a:gd name="connsiteY302" fmla="*/ 3513233 h 6856812"/>
                <a:gd name="connsiteX303" fmla="*/ 114323 w 3981450"/>
                <a:gd name="connsiteY303" fmla="*/ 3502122 h 6856812"/>
                <a:gd name="connsiteX304" fmla="*/ 99239 w 3981450"/>
                <a:gd name="connsiteY304" fmla="*/ 3491011 h 6856812"/>
                <a:gd name="connsiteX305" fmla="*/ 85742 w 3981450"/>
                <a:gd name="connsiteY305" fmla="*/ 3476726 h 6856812"/>
                <a:gd name="connsiteX306" fmla="*/ 71452 w 3981450"/>
                <a:gd name="connsiteY306" fmla="*/ 3463234 h 6856812"/>
                <a:gd name="connsiteX307" fmla="*/ 58749 w 3981450"/>
                <a:gd name="connsiteY307" fmla="*/ 3448155 h 6856812"/>
                <a:gd name="connsiteX308" fmla="*/ 47635 w 3981450"/>
                <a:gd name="connsiteY308" fmla="*/ 3431489 h 6856812"/>
                <a:gd name="connsiteX309" fmla="*/ 37314 w 3981450"/>
                <a:gd name="connsiteY309" fmla="*/ 3414822 h 6856812"/>
                <a:gd name="connsiteX310" fmla="*/ 30169 w 3981450"/>
                <a:gd name="connsiteY310" fmla="*/ 3401331 h 6856812"/>
                <a:gd name="connsiteX311" fmla="*/ 23817 w 3981450"/>
                <a:gd name="connsiteY311" fmla="*/ 3387045 h 6856812"/>
                <a:gd name="connsiteX312" fmla="*/ 13497 w 3981450"/>
                <a:gd name="connsiteY312" fmla="*/ 3360855 h 6856812"/>
                <a:gd name="connsiteX313" fmla="*/ 6352 w 3981450"/>
                <a:gd name="connsiteY313" fmla="*/ 3333078 h 6856812"/>
                <a:gd name="connsiteX314" fmla="*/ 794 w 3981450"/>
                <a:gd name="connsiteY314" fmla="*/ 3305301 h 6856812"/>
                <a:gd name="connsiteX315" fmla="*/ 0 w 3981450"/>
                <a:gd name="connsiteY315" fmla="*/ 3276730 h 6856812"/>
                <a:gd name="connsiteX316" fmla="*/ 0 w 3981450"/>
                <a:gd name="connsiteY316" fmla="*/ 3248953 h 6856812"/>
                <a:gd name="connsiteX317" fmla="*/ 3970 w 3981450"/>
                <a:gd name="connsiteY317" fmla="*/ 3221176 h 6856812"/>
                <a:gd name="connsiteX318" fmla="*/ 10321 w 3981450"/>
                <a:gd name="connsiteY318" fmla="*/ 3194192 h 6856812"/>
                <a:gd name="connsiteX319" fmla="*/ 19054 w 3981450"/>
                <a:gd name="connsiteY319" fmla="*/ 3168002 h 6856812"/>
                <a:gd name="connsiteX320" fmla="*/ 30169 w 3981450"/>
                <a:gd name="connsiteY320" fmla="*/ 3141812 h 6856812"/>
                <a:gd name="connsiteX321" fmla="*/ 42871 w 3981450"/>
                <a:gd name="connsiteY321" fmla="*/ 3118003 h 6856812"/>
                <a:gd name="connsiteX322" fmla="*/ 58749 w 3981450"/>
                <a:gd name="connsiteY322" fmla="*/ 3094988 h 6856812"/>
                <a:gd name="connsiteX323" fmla="*/ 77803 w 3981450"/>
                <a:gd name="connsiteY323" fmla="*/ 3073560 h 6856812"/>
                <a:gd name="connsiteX324" fmla="*/ 98445 w 3981450"/>
                <a:gd name="connsiteY324" fmla="*/ 3053719 h 6856812"/>
                <a:gd name="connsiteX325" fmla="*/ 120674 w 3981450"/>
                <a:gd name="connsiteY325" fmla="*/ 3034672 h 6856812"/>
                <a:gd name="connsiteX326" fmla="*/ 133377 w 3981450"/>
                <a:gd name="connsiteY326" fmla="*/ 3026735 h 6856812"/>
                <a:gd name="connsiteX327" fmla="*/ 146079 w 3981450"/>
                <a:gd name="connsiteY327" fmla="*/ 3019593 h 6856812"/>
                <a:gd name="connsiteX328" fmla="*/ 729602 w 3981450"/>
                <a:gd name="connsiteY328" fmla="*/ 2686267 h 6856812"/>
                <a:gd name="connsiteX329" fmla="*/ 761358 w 3981450"/>
                <a:gd name="connsiteY329" fmla="*/ 2668806 h 6856812"/>
                <a:gd name="connsiteX330" fmla="*/ 791527 w 3981450"/>
                <a:gd name="connsiteY330" fmla="*/ 2647378 h 6856812"/>
                <a:gd name="connsiteX331" fmla="*/ 819314 w 3981450"/>
                <a:gd name="connsiteY331" fmla="*/ 2625950 h 6856812"/>
                <a:gd name="connsiteX332" fmla="*/ 847100 w 3981450"/>
                <a:gd name="connsiteY332" fmla="*/ 2603728 h 6856812"/>
                <a:gd name="connsiteX333" fmla="*/ 873299 w 3981450"/>
                <a:gd name="connsiteY333" fmla="*/ 2578332 h 6856812"/>
                <a:gd name="connsiteX334" fmla="*/ 898704 w 3981450"/>
                <a:gd name="connsiteY334" fmla="*/ 2552142 h 6856812"/>
                <a:gd name="connsiteX335" fmla="*/ 921728 w 3981450"/>
                <a:gd name="connsiteY335" fmla="*/ 2525159 h 6856812"/>
                <a:gd name="connsiteX336" fmla="*/ 943957 w 3981450"/>
                <a:gd name="connsiteY336" fmla="*/ 2496588 h 6856812"/>
                <a:gd name="connsiteX337" fmla="*/ 1511602 w 3981450"/>
                <a:gd name="connsiteY337" fmla="*/ 1717239 h 6856812"/>
                <a:gd name="connsiteX338" fmla="*/ 1526686 w 3981450"/>
                <a:gd name="connsiteY338" fmla="*/ 1698986 h 6856812"/>
                <a:gd name="connsiteX339" fmla="*/ 1544152 w 3981450"/>
                <a:gd name="connsiteY339" fmla="*/ 1680732 h 6856812"/>
                <a:gd name="connsiteX340" fmla="*/ 1561618 w 3981450"/>
                <a:gd name="connsiteY340" fmla="*/ 1665653 h 6856812"/>
                <a:gd name="connsiteX341" fmla="*/ 1579878 w 3981450"/>
                <a:gd name="connsiteY341" fmla="*/ 1652161 h 6856812"/>
                <a:gd name="connsiteX342" fmla="*/ 1595756 w 3981450"/>
                <a:gd name="connsiteY342" fmla="*/ 1635495 h 6856812"/>
                <a:gd name="connsiteX343" fmla="*/ 1612428 w 3981450"/>
                <a:gd name="connsiteY343" fmla="*/ 1619622 h 6856812"/>
                <a:gd name="connsiteX344" fmla="*/ 1629100 w 3981450"/>
                <a:gd name="connsiteY344" fmla="*/ 1603750 h 6856812"/>
                <a:gd name="connsiteX345" fmla="*/ 1646566 w 3981450"/>
                <a:gd name="connsiteY345" fmla="*/ 1588671 h 6856812"/>
                <a:gd name="connsiteX346" fmla="*/ 1665620 w 3981450"/>
                <a:gd name="connsiteY346" fmla="*/ 1573592 h 6856812"/>
                <a:gd name="connsiteX347" fmla="*/ 1683086 w 3981450"/>
                <a:gd name="connsiteY347" fmla="*/ 1560100 h 6856812"/>
                <a:gd name="connsiteX348" fmla="*/ 1702140 w 3981450"/>
                <a:gd name="connsiteY348" fmla="*/ 1547402 h 6856812"/>
                <a:gd name="connsiteX349" fmla="*/ 1721987 w 3981450"/>
                <a:gd name="connsiteY349" fmla="*/ 1534704 h 6856812"/>
                <a:gd name="connsiteX350" fmla="*/ 1742629 w 3981450"/>
                <a:gd name="connsiteY350" fmla="*/ 1522006 h 6856812"/>
                <a:gd name="connsiteX351" fmla="*/ 1762477 w 3981450"/>
                <a:gd name="connsiteY351" fmla="*/ 1510895 h 6856812"/>
                <a:gd name="connsiteX352" fmla="*/ 1783912 w 3981450"/>
                <a:gd name="connsiteY352" fmla="*/ 1500577 h 6856812"/>
                <a:gd name="connsiteX353" fmla="*/ 1805348 w 3981450"/>
                <a:gd name="connsiteY353" fmla="*/ 1491054 h 6856812"/>
                <a:gd name="connsiteX354" fmla="*/ 1828371 w 3981450"/>
                <a:gd name="connsiteY354" fmla="*/ 1481530 h 6856812"/>
                <a:gd name="connsiteX355" fmla="*/ 1850600 w 3981450"/>
                <a:gd name="connsiteY355" fmla="*/ 1472800 h 6856812"/>
                <a:gd name="connsiteX356" fmla="*/ 1873624 w 3981450"/>
                <a:gd name="connsiteY356" fmla="*/ 1465658 h 6856812"/>
                <a:gd name="connsiteX357" fmla="*/ 1895853 w 3981450"/>
                <a:gd name="connsiteY357" fmla="*/ 1457721 h 6856812"/>
                <a:gd name="connsiteX358" fmla="*/ 1927609 w 3981450"/>
                <a:gd name="connsiteY358" fmla="*/ 1450579 h 6856812"/>
                <a:gd name="connsiteX359" fmla="*/ 1959366 w 3981450"/>
                <a:gd name="connsiteY359" fmla="*/ 1444229 h 6856812"/>
                <a:gd name="connsiteX360" fmla="*/ 1989534 w 3981450"/>
                <a:gd name="connsiteY360" fmla="*/ 1440261 h 6856812"/>
                <a:gd name="connsiteX361" fmla="*/ 2021291 w 3981450"/>
                <a:gd name="connsiteY361" fmla="*/ 1436293 h 6856812"/>
                <a:gd name="connsiteX362" fmla="*/ 1547613 w 3981450"/>
                <a:gd name="connsiteY362" fmla="*/ 0 h 6856812"/>
                <a:gd name="connsiteX363" fmla="*/ 2208213 w 3981450"/>
                <a:gd name="connsiteY363" fmla="*/ 660600 h 6856812"/>
                <a:gd name="connsiteX364" fmla="*/ 1547613 w 3981450"/>
                <a:gd name="connsiteY364" fmla="*/ 1321200 h 6856812"/>
                <a:gd name="connsiteX365" fmla="*/ 887013 w 3981450"/>
                <a:gd name="connsiteY365" fmla="*/ 660600 h 6856812"/>
                <a:gd name="connsiteX366" fmla="*/ 1547613 w 3981450"/>
                <a:gd name="connsiteY366" fmla="*/ 0 h 6856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Lst>
              <a:rect l="l" t="t" r="r" b="b"/>
              <a:pathLst>
                <a:path w="3981450" h="6856812">
                  <a:moveTo>
                    <a:pt x="2051459" y="1433912"/>
                  </a:moveTo>
                  <a:lnTo>
                    <a:pt x="2082422" y="1433912"/>
                  </a:lnTo>
                  <a:lnTo>
                    <a:pt x="2112590" y="1435499"/>
                  </a:lnTo>
                  <a:lnTo>
                    <a:pt x="2143552" y="1437880"/>
                  </a:lnTo>
                  <a:lnTo>
                    <a:pt x="2173721" y="1441849"/>
                  </a:lnTo>
                  <a:lnTo>
                    <a:pt x="2202302" y="1446610"/>
                  </a:lnTo>
                  <a:lnTo>
                    <a:pt x="2232470" y="1452959"/>
                  </a:lnTo>
                  <a:lnTo>
                    <a:pt x="2261845" y="1460102"/>
                  </a:lnTo>
                  <a:lnTo>
                    <a:pt x="2289632" y="1469626"/>
                  </a:lnTo>
                  <a:lnTo>
                    <a:pt x="2318212" y="1479149"/>
                  </a:lnTo>
                  <a:lnTo>
                    <a:pt x="2345205" y="1491054"/>
                  </a:lnTo>
                  <a:lnTo>
                    <a:pt x="2372992" y="1502958"/>
                  </a:lnTo>
                  <a:lnTo>
                    <a:pt x="2390458" y="1509307"/>
                  </a:lnTo>
                  <a:lnTo>
                    <a:pt x="2406336" y="1517244"/>
                  </a:lnTo>
                  <a:lnTo>
                    <a:pt x="2424596" y="1527561"/>
                  </a:lnTo>
                  <a:lnTo>
                    <a:pt x="2440474" y="1537085"/>
                  </a:lnTo>
                  <a:lnTo>
                    <a:pt x="3409042" y="2224371"/>
                  </a:lnTo>
                  <a:lnTo>
                    <a:pt x="3435241" y="2243419"/>
                  </a:lnTo>
                  <a:lnTo>
                    <a:pt x="3462234" y="2263260"/>
                  </a:lnTo>
                  <a:lnTo>
                    <a:pt x="3486845" y="2283101"/>
                  </a:lnTo>
                  <a:lnTo>
                    <a:pt x="3511456" y="2306116"/>
                  </a:lnTo>
                  <a:lnTo>
                    <a:pt x="3533686" y="2329131"/>
                  </a:lnTo>
                  <a:lnTo>
                    <a:pt x="3556709" y="2352940"/>
                  </a:lnTo>
                  <a:lnTo>
                    <a:pt x="3576557" y="2377543"/>
                  </a:lnTo>
                  <a:lnTo>
                    <a:pt x="3597198" y="2404526"/>
                  </a:lnTo>
                  <a:lnTo>
                    <a:pt x="3614664" y="2430716"/>
                  </a:lnTo>
                  <a:lnTo>
                    <a:pt x="3632130" y="2458493"/>
                  </a:lnTo>
                  <a:lnTo>
                    <a:pt x="3648802" y="2487858"/>
                  </a:lnTo>
                  <a:lnTo>
                    <a:pt x="3662299" y="2516429"/>
                  </a:lnTo>
                  <a:lnTo>
                    <a:pt x="3676589" y="2545793"/>
                  </a:lnTo>
                  <a:lnTo>
                    <a:pt x="3687704" y="2576745"/>
                  </a:lnTo>
                  <a:lnTo>
                    <a:pt x="3698819" y="2606903"/>
                  </a:lnTo>
                  <a:lnTo>
                    <a:pt x="3707552" y="2640236"/>
                  </a:lnTo>
                  <a:lnTo>
                    <a:pt x="3971129" y="3622754"/>
                  </a:lnTo>
                  <a:lnTo>
                    <a:pt x="3975099" y="3637833"/>
                  </a:lnTo>
                  <a:lnTo>
                    <a:pt x="3977480" y="3652119"/>
                  </a:lnTo>
                  <a:lnTo>
                    <a:pt x="3981450" y="3680690"/>
                  </a:lnTo>
                  <a:lnTo>
                    <a:pt x="3981450" y="3710054"/>
                  </a:lnTo>
                  <a:lnTo>
                    <a:pt x="3979068" y="3737831"/>
                  </a:lnTo>
                  <a:lnTo>
                    <a:pt x="3973511" y="3765608"/>
                  </a:lnTo>
                  <a:lnTo>
                    <a:pt x="3964778" y="3793386"/>
                  </a:lnTo>
                  <a:lnTo>
                    <a:pt x="3955251" y="3817988"/>
                  </a:lnTo>
                  <a:lnTo>
                    <a:pt x="3942548" y="3843384"/>
                  </a:lnTo>
                  <a:lnTo>
                    <a:pt x="3927464" y="3866400"/>
                  </a:lnTo>
                  <a:lnTo>
                    <a:pt x="3909204" y="3888622"/>
                  </a:lnTo>
                  <a:lnTo>
                    <a:pt x="3890944" y="3909256"/>
                  </a:lnTo>
                  <a:lnTo>
                    <a:pt x="3869509" y="3926716"/>
                  </a:lnTo>
                  <a:lnTo>
                    <a:pt x="3846486" y="3943382"/>
                  </a:lnTo>
                  <a:lnTo>
                    <a:pt x="3821080" y="3956874"/>
                  </a:lnTo>
                  <a:lnTo>
                    <a:pt x="3794882" y="3969572"/>
                  </a:lnTo>
                  <a:lnTo>
                    <a:pt x="3780591" y="3974334"/>
                  </a:lnTo>
                  <a:lnTo>
                    <a:pt x="3765507" y="3978302"/>
                  </a:lnTo>
                  <a:lnTo>
                    <a:pt x="3747247" y="3982270"/>
                  </a:lnTo>
                  <a:lnTo>
                    <a:pt x="3728193" y="3986239"/>
                  </a:lnTo>
                  <a:lnTo>
                    <a:pt x="3710727" y="3987032"/>
                  </a:lnTo>
                  <a:lnTo>
                    <a:pt x="3691674" y="3988619"/>
                  </a:lnTo>
                  <a:lnTo>
                    <a:pt x="3667856" y="3987032"/>
                  </a:lnTo>
                  <a:lnTo>
                    <a:pt x="3643245" y="3984651"/>
                  </a:lnTo>
                  <a:lnTo>
                    <a:pt x="3621016" y="3979889"/>
                  </a:lnTo>
                  <a:lnTo>
                    <a:pt x="3597992" y="3973540"/>
                  </a:lnTo>
                  <a:lnTo>
                    <a:pt x="3576557" y="3964810"/>
                  </a:lnTo>
                  <a:lnTo>
                    <a:pt x="3555121" y="3954493"/>
                  </a:lnTo>
                  <a:lnTo>
                    <a:pt x="3535274" y="3943382"/>
                  </a:lnTo>
                  <a:lnTo>
                    <a:pt x="3516220" y="3929097"/>
                  </a:lnTo>
                  <a:lnTo>
                    <a:pt x="3497166" y="3914018"/>
                  </a:lnTo>
                  <a:lnTo>
                    <a:pt x="3481288" y="3898145"/>
                  </a:lnTo>
                  <a:lnTo>
                    <a:pt x="3465410" y="3879892"/>
                  </a:lnTo>
                  <a:lnTo>
                    <a:pt x="3451913" y="3860844"/>
                  </a:lnTo>
                  <a:lnTo>
                    <a:pt x="3438417" y="3841004"/>
                  </a:lnTo>
                  <a:lnTo>
                    <a:pt x="3428096" y="3819575"/>
                  </a:lnTo>
                  <a:lnTo>
                    <a:pt x="3417775" y="3796560"/>
                  </a:lnTo>
                  <a:lnTo>
                    <a:pt x="3410630" y="3772751"/>
                  </a:lnTo>
                  <a:lnTo>
                    <a:pt x="3147846" y="2790233"/>
                  </a:lnTo>
                  <a:lnTo>
                    <a:pt x="3144671" y="2777534"/>
                  </a:lnTo>
                  <a:lnTo>
                    <a:pt x="3138320" y="2764836"/>
                  </a:lnTo>
                  <a:lnTo>
                    <a:pt x="3132762" y="2753725"/>
                  </a:lnTo>
                  <a:lnTo>
                    <a:pt x="3125617" y="2743408"/>
                  </a:lnTo>
                  <a:lnTo>
                    <a:pt x="3117678" y="2733091"/>
                  </a:lnTo>
                  <a:lnTo>
                    <a:pt x="3108945" y="2723567"/>
                  </a:lnTo>
                  <a:lnTo>
                    <a:pt x="3098624" y="2715631"/>
                  </a:lnTo>
                  <a:lnTo>
                    <a:pt x="3087509" y="2707694"/>
                  </a:lnTo>
                  <a:lnTo>
                    <a:pt x="2909674" y="2580713"/>
                  </a:lnTo>
                  <a:lnTo>
                    <a:pt x="3034318" y="3035465"/>
                  </a:lnTo>
                  <a:lnTo>
                    <a:pt x="3043050" y="3067211"/>
                  </a:lnTo>
                  <a:lnTo>
                    <a:pt x="3049402" y="3098956"/>
                  </a:lnTo>
                  <a:lnTo>
                    <a:pt x="3053371" y="3131495"/>
                  </a:lnTo>
                  <a:lnTo>
                    <a:pt x="3057341" y="3163240"/>
                  </a:lnTo>
                  <a:lnTo>
                    <a:pt x="3059722" y="3178319"/>
                  </a:lnTo>
                  <a:lnTo>
                    <a:pt x="3062104" y="3193399"/>
                  </a:lnTo>
                  <a:lnTo>
                    <a:pt x="3139113" y="4625907"/>
                  </a:lnTo>
                  <a:lnTo>
                    <a:pt x="3141495" y="4660034"/>
                  </a:lnTo>
                  <a:lnTo>
                    <a:pt x="3145464" y="4694160"/>
                  </a:lnTo>
                  <a:lnTo>
                    <a:pt x="3149434" y="4728286"/>
                  </a:lnTo>
                  <a:lnTo>
                    <a:pt x="3153404" y="4762412"/>
                  </a:lnTo>
                  <a:lnTo>
                    <a:pt x="3159755" y="4796539"/>
                  </a:lnTo>
                  <a:lnTo>
                    <a:pt x="3166106" y="4829078"/>
                  </a:lnTo>
                  <a:lnTo>
                    <a:pt x="3171664" y="4863204"/>
                  </a:lnTo>
                  <a:lnTo>
                    <a:pt x="3179603" y="4895743"/>
                  </a:lnTo>
                  <a:lnTo>
                    <a:pt x="3188336" y="4928282"/>
                  </a:lnTo>
                  <a:lnTo>
                    <a:pt x="3197068" y="4961615"/>
                  </a:lnTo>
                  <a:lnTo>
                    <a:pt x="3207390" y="4994154"/>
                  </a:lnTo>
                  <a:lnTo>
                    <a:pt x="3218504" y="5025899"/>
                  </a:lnTo>
                  <a:lnTo>
                    <a:pt x="3230413" y="5058438"/>
                  </a:lnTo>
                  <a:lnTo>
                    <a:pt x="3242322" y="5090183"/>
                  </a:lnTo>
                  <a:lnTo>
                    <a:pt x="3256612" y="5121135"/>
                  </a:lnTo>
                  <a:lnTo>
                    <a:pt x="3270108" y="5152880"/>
                  </a:lnTo>
                  <a:lnTo>
                    <a:pt x="3883005" y="6325871"/>
                  </a:lnTo>
                  <a:lnTo>
                    <a:pt x="3891738" y="6342538"/>
                  </a:lnTo>
                  <a:lnTo>
                    <a:pt x="3899678" y="6359997"/>
                  </a:lnTo>
                  <a:lnTo>
                    <a:pt x="3906029" y="6376664"/>
                  </a:lnTo>
                  <a:lnTo>
                    <a:pt x="3910792" y="6394124"/>
                  </a:lnTo>
                  <a:lnTo>
                    <a:pt x="3915556" y="6411584"/>
                  </a:lnTo>
                  <a:lnTo>
                    <a:pt x="3919525" y="6429837"/>
                  </a:lnTo>
                  <a:lnTo>
                    <a:pt x="3921907" y="6447297"/>
                  </a:lnTo>
                  <a:lnTo>
                    <a:pt x="3923495" y="6464757"/>
                  </a:lnTo>
                  <a:lnTo>
                    <a:pt x="3925082" y="6482217"/>
                  </a:lnTo>
                  <a:lnTo>
                    <a:pt x="3925082" y="6500471"/>
                  </a:lnTo>
                  <a:lnTo>
                    <a:pt x="3925082" y="6516343"/>
                  </a:lnTo>
                  <a:lnTo>
                    <a:pt x="3921907" y="6533803"/>
                  </a:lnTo>
                  <a:lnTo>
                    <a:pt x="3921113" y="6552057"/>
                  </a:lnTo>
                  <a:lnTo>
                    <a:pt x="3917144" y="6569517"/>
                  </a:lnTo>
                  <a:lnTo>
                    <a:pt x="3913174" y="6586183"/>
                  </a:lnTo>
                  <a:lnTo>
                    <a:pt x="3908410" y="6602056"/>
                  </a:lnTo>
                  <a:lnTo>
                    <a:pt x="3903647" y="6618722"/>
                  </a:lnTo>
                  <a:lnTo>
                    <a:pt x="3897296" y="6635388"/>
                  </a:lnTo>
                  <a:lnTo>
                    <a:pt x="3889357" y="6651261"/>
                  </a:lnTo>
                  <a:lnTo>
                    <a:pt x="3882212" y="6666340"/>
                  </a:lnTo>
                  <a:lnTo>
                    <a:pt x="3872684" y="6681419"/>
                  </a:lnTo>
                  <a:lnTo>
                    <a:pt x="3863158" y="6696498"/>
                  </a:lnTo>
                  <a:lnTo>
                    <a:pt x="3852837" y="6710784"/>
                  </a:lnTo>
                  <a:lnTo>
                    <a:pt x="3842516" y="6724275"/>
                  </a:lnTo>
                  <a:lnTo>
                    <a:pt x="3829814" y="6738561"/>
                  </a:lnTo>
                  <a:lnTo>
                    <a:pt x="3818699" y="6751259"/>
                  </a:lnTo>
                  <a:lnTo>
                    <a:pt x="3805202" y="6763163"/>
                  </a:lnTo>
                  <a:lnTo>
                    <a:pt x="3790912" y="6775068"/>
                  </a:lnTo>
                  <a:lnTo>
                    <a:pt x="3777416" y="6786179"/>
                  </a:lnTo>
                  <a:lnTo>
                    <a:pt x="3762331" y="6796496"/>
                  </a:lnTo>
                  <a:lnTo>
                    <a:pt x="3747247" y="6806020"/>
                  </a:lnTo>
                  <a:lnTo>
                    <a:pt x="3730575" y="6815543"/>
                  </a:lnTo>
                  <a:lnTo>
                    <a:pt x="3710727" y="6825067"/>
                  </a:lnTo>
                  <a:lnTo>
                    <a:pt x="3689292" y="6833797"/>
                  </a:lnTo>
                  <a:lnTo>
                    <a:pt x="3668650" y="6840146"/>
                  </a:lnTo>
                  <a:lnTo>
                    <a:pt x="3647214" y="6846495"/>
                  </a:lnTo>
                  <a:lnTo>
                    <a:pt x="3625779" y="6850463"/>
                  </a:lnTo>
                  <a:lnTo>
                    <a:pt x="3604344" y="6854431"/>
                  </a:lnTo>
                  <a:lnTo>
                    <a:pt x="3584496" y="6856812"/>
                  </a:lnTo>
                  <a:lnTo>
                    <a:pt x="3563060" y="6856812"/>
                  </a:lnTo>
                  <a:lnTo>
                    <a:pt x="3537655" y="6855225"/>
                  </a:lnTo>
                  <a:lnTo>
                    <a:pt x="3513838" y="6852844"/>
                  </a:lnTo>
                  <a:lnTo>
                    <a:pt x="3490021" y="6848876"/>
                  </a:lnTo>
                  <a:lnTo>
                    <a:pt x="3465410" y="6844114"/>
                  </a:lnTo>
                  <a:lnTo>
                    <a:pt x="3443180" y="6836971"/>
                  </a:lnTo>
                  <a:lnTo>
                    <a:pt x="3420177" y="6827448"/>
                  </a:lnTo>
                  <a:lnTo>
                    <a:pt x="3397928" y="6817924"/>
                  </a:lnTo>
                  <a:lnTo>
                    <a:pt x="3377286" y="6806020"/>
                  </a:lnTo>
                  <a:lnTo>
                    <a:pt x="3355850" y="6792528"/>
                  </a:lnTo>
                  <a:lnTo>
                    <a:pt x="3336796" y="6779036"/>
                  </a:lnTo>
                  <a:lnTo>
                    <a:pt x="3318536" y="6762370"/>
                  </a:lnTo>
                  <a:lnTo>
                    <a:pt x="3299483" y="6744910"/>
                  </a:lnTo>
                  <a:lnTo>
                    <a:pt x="3282811" y="6725863"/>
                  </a:lnTo>
                  <a:lnTo>
                    <a:pt x="3267726" y="6705228"/>
                  </a:lnTo>
                  <a:lnTo>
                    <a:pt x="3254230" y="6683800"/>
                  </a:lnTo>
                  <a:lnTo>
                    <a:pt x="3241528" y="6662372"/>
                  </a:lnTo>
                  <a:lnTo>
                    <a:pt x="2623867" y="5480651"/>
                  </a:lnTo>
                  <a:lnTo>
                    <a:pt x="2615928" y="5465572"/>
                  </a:lnTo>
                  <a:lnTo>
                    <a:pt x="2594492" y="5418748"/>
                  </a:lnTo>
                  <a:lnTo>
                    <a:pt x="2573057" y="5371130"/>
                  </a:lnTo>
                  <a:lnTo>
                    <a:pt x="2554003" y="5321924"/>
                  </a:lnTo>
                  <a:lnTo>
                    <a:pt x="2536537" y="5274306"/>
                  </a:lnTo>
                  <a:lnTo>
                    <a:pt x="2519865" y="5225101"/>
                  </a:lnTo>
                  <a:lnTo>
                    <a:pt x="2503987" y="5174308"/>
                  </a:lnTo>
                  <a:lnTo>
                    <a:pt x="2489696" y="5125103"/>
                  </a:lnTo>
                  <a:lnTo>
                    <a:pt x="2476994" y="5075104"/>
                  </a:lnTo>
                  <a:lnTo>
                    <a:pt x="2465085" y="5024312"/>
                  </a:lnTo>
                  <a:lnTo>
                    <a:pt x="2454764" y="4974313"/>
                  </a:lnTo>
                  <a:lnTo>
                    <a:pt x="2444444" y="4923520"/>
                  </a:lnTo>
                  <a:lnTo>
                    <a:pt x="2437298" y="4871934"/>
                  </a:lnTo>
                  <a:lnTo>
                    <a:pt x="2429359" y="4821141"/>
                  </a:lnTo>
                  <a:lnTo>
                    <a:pt x="2423008" y="4769555"/>
                  </a:lnTo>
                  <a:lnTo>
                    <a:pt x="2419038" y="4717175"/>
                  </a:lnTo>
                  <a:lnTo>
                    <a:pt x="2415863" y="4665589"/>
                  </a:lnTo>
                  <a:lnTo>
                    <a:pt x="2373786" y="3891796"/>
                  </a:lnTo>
                  <a:lnTo>
                    <a:pt x="2369022" y="3891796"/>
                  </a:lnTo>
                  <a:lnTo>
                    <a:pt x="1663238" y="4856855"/>
                  </a:lnTo>
                  <a:lnTo>
                    <a:pt x="1632276" y="4899711"/>
                  </a:lnTo>
                  <a:lnTo>
                    <a:pt x="1604489" y="4944155"/>
                  </a:lnTo>
                  <a:lnTo>
                    <a:pt x="1580672" y="4990185"/>
                  </a:lnTo>
                  <a:lnTo>
                    <a:pt x="1558442" y="5037010"/>
                  </a:lnTo>
                  <a:lnTo>
                    <a:pt x="1537801" y="5083834"/>
                  </a:lnTo>
                  <a:lnTo>
                    <a:pt x="1518747" y="5133039"/>
                  </a:lnTo>
                  <a:lnTo>
                    <a:pt x="1503662" y="5183038"/>
                  </a:lnTo>
                  <a:lnTo>
                    <a:pt x="1491754" y="5233831"/>
                  </a:lnTo>
                  <a:lnTo>
                    <a:pt x="1191657" y="6573485"/>
                  </a:lnTo>
                  <a:lnTo>
                    <a:pt x="1183717" y="6604437"/>
                  </a:lnTo>
                  <a:lnTo>
                    <a:pt x="1172603" y="6633801"/>
                  </a:lnTo>
                  <a:lnTo>
                    <a:pt x="1159900" y="6662372"/>
                  </a:lnTo>
                  <a:lnTo>
                    <a:pt x="1143228" y="6689356"/>
                  </a:lnTo>
                  <a:lnTo>
                    <a:pt x="1125762" y="6714752"/>
                  </a:lnTo>
                  <a:lnTo>
                    <a:pt x="1106708" y="6736974"/>
                  </a:lnTo>
                  <a:lnTo>
                    <a:pt x="1085273" y="6758402"/>
                  </a:lnTo>
                  <a:lnTo>
                    <a:pt x="1063043" y="6779036"/>
                  </a:lnTo>
                  <a:lnTo>
                    <a:pt x="1038432" y="6796496"/>
                  </a:lnTo>
                  <a:lnTo>
                    <a:pt x="1013821" y="6811575"/>
                  </a:lnTo>
                  <a:lnTo>
                    <a:pt x="986034" y="6825067"/>
                  </a:lnTo>
                  <a:lnTo>
                    <a:pt x="958248" y="6836971"/>
                  </a:lnTo>
                  <a:lnTo>
                    <a:pt x="928873" y="6845701"/>
                  </a:lnTo>
                  <a:lnTo>
                    <a:pt x="898704" y="6852050"/>
                  </a:lnTo>
                  <a:lnTo>
                    <a:pt x="868536" y="6855225"/>
                  </a:lnTo>
                  <a:lnTo>
                    <a:pt x="838367" y="6856812"/>
                  </a:lnTo>
                  <a:lnTo>
                    <a:pt x="818520" y="6856812"/>
                  </a:lnTo>
                  <a:lnTo>
                    <a:pt x="797878" y="6854431"/>
                  </a:lnTo>
                  <a:lnTo>
                    <a:pt x="778824" y="6852050"/>
                  </a:lnTo>
                  <a:lnTo>
                    <a:pt x="758977" y="6848082"/>
                  </a:lnTo>
                  <a:lnTo>
                    <a:pt x="739923" y="6843320"/>
                  </a:lnTo>
                  <a:lnTo>
                    <a:pt x="722457" y="6837765"/>
                  </a:lnTo>
                  <a:lnTo>
                    <a:pt x="705785" y="6831416"/>
                  </a:lnTo>
                  <a:lnTo>
                    <a:pt x="688319" y="6825067"/>
                  </a:lnTo>
                  <a:lnTo>
                    <a:pt x="671647" y="6816337"/>
                  </a:lnTo>
                  <a:lnTo>
                    <a:pt x="656562" y="6809194"/>
                  </a:lnTo>
                  <a:lnTo>
                    <a:pt x="641478" y="6798877"/>
                  </a:lnTo>
                  <a:lnTo>
                    <a:pt x="626394" y="6788560"/>
                  </a:lnTo>
                  <a:lnTo>
                    <a:pt x="612897" y="6779036"/>
                  </a:lnTo>
                  <a:lnTo>
                    <a:pt x="598607" y="6767132"/>
                  </a:lnTo>
                  <a:lnTo>
                    <a:pt x="585905" y="6756021"/>
                  </a:lnTo>
                  <a:lnTo>
                    <a:pt x="573202" y="6743323"/>
                  </a:lnTo>
                  <a:lnTo>
                    <a:pt x="562087" y="6730624"/>
                  </a:lnTo>
                  <a:lnTo>
                    <a:pt x="550973" y="6717133"/>
                  </a:lnTo>
                  <a:lnTo>
                    <a:pt x="540652" y="6702847"/>
                  </a:lnTo>
                  <a:lnTo>
                    <a:pt x="531919" y="6687768"/>
                  </a:lnTo>
                  <a:lnTo>
                    <a:pt x="521598" y="6672689"/>
                  </a:lnTo>
                  <a:lnTo>
                    <a:pt x="514453" y="6657610"/>
                  </a:lnTo>
                  <a:lnTo>
                    <a:pt x="506514" y="6642531"/>
                  </a:lnTo>
                  <a:lnTo>
                    <a:pt x="500162" y="6625865"/>
                  </a:lnTo>
                  <a:lnTo>
                    <a:pt x="493811" y="6609992"/>
                  </a:lnTo>
                  <a:lnTo>
                    <a:pt x="489048" y="6593326"/>
                  </a:lnTo>
                  <a:lnTo>
                    <a:pt x="484284" y="6575866"/>
                  </a:lnTo>
                  <a:lnTo>
                    <a:pt x="480315" y="6559200"/>
                  </a:lnTo>
                  <a:lnTo>
                    <a:pt x="477933" y="6541740"/>
                  </a:lnTo>
                  <a:lnTo>
                    <a:pt x="476345" y="6524280"/>
                  </a:lnTo>
                  <a:lnTo>
                    <a:pt x="475551" y="6506820"/>
                  </a:lnTo>
                  <a:lnTo>
                    <a:pt x="475551" y="6487773"/>
                  </a:lnTo>
                  <a:lnTo>
                    <a:pt x="475551" y="6470313"/>
                  </a:lnTo>
                  <a:lnTo>
                    <a:pt x="477933" y="6451265"/>
                  </a:lnTo>
                  <a:lnTo>
                    <a:pt x="480315" y="6433012"/>
                  </a:lnTo>
                  <a:lnTo>
                    <a:pt x="484284" y="6414758"/>
                  </a:lnTo>
                  <a:lnTo>
                    <a:pt x="784382" y="5075104"/>
                  </a:lnTo>
                  <a:lnTo>
                    <a:pt x="793908" y="5032248"/>
                  </a:lnTo>
                  <a:lnTo>
                    <a:pt x="805817" y="4987804"/>
                  </a:lnTo>
                  <a:lnTo>
                    <a:pt x="818520" y="4944948"/>
                  </a:lnTo>
                  <a:lnTo>
                    <a:pt x="832017" y="4902092"/>
                  </a:lnTo>
                  <a:lnTo>
                    <a:pt x="845513" y="4860823"/>
                  </a:lnTo>
                  <a:lnTo>
                    <a:pt x="862185" y="4818760"/>
                  </a:lnTo>
                  <a:lnTo>
                    <a:pt x="878857" y="4777491"/>
                  </a:lnTo>
                  <a:lnTo>
                    <a:pt x="896323" y="4737016"/>
                  </a:lnTo>
                  <a:lnTo>
                    <a:pt x="915376" y="4696541"/>
                  </a:lnTo>
                  <a:lnTo>
                    <a:pt x="935224" y="4656065"/>
                  </a:lnTo>
                  <a:lnTo>
                    <a:pt x="956660" y="4617177"/>
                  </a:lnTo>
                  <a:lnTo>
                    <a:pt x="978095" y="4579877"/>
                  </a:lnTo>
                  <a:lnTo>
                    <a:pt x="1001912" y="4540195"/>
                  </a:lnTo>
                  <a:lnTo>
                    <a:pt x="1026524" y="4502894"/>
                  </a:lnTo>
                  <a:lnTo>
                    <a:pt x="1051135" y="4466387"/>
                  </a:lnTo>
                  <a:lnTo>
                    <a:pt x="1076540" y="4429880"/>
                  </a:lnTo>
                  <a:lnTo>
                    <a:pt x="1764064" y="3489424"/>
                  </a:lnTo>
                  <a:lnTo>
                    <a:pt x="1754537" y="3466408"/>
                  </a:lnTo>
                  <a:lnTo>
                    <a:pt x="1745011" y="3442599"/>
                  </a:lnTo>
                  <a:lnTo>
                    <a:pt x="1737071" y="3420378"/>
                  </a:lnTo>
                  <a:lnTo>
                    <a:pt x="1729926" y="3396569"/>
                  </a:lnTo>
                  <a:lnTo>
                    <a:pt x="1530655" y="2676743"/>
                  </a:lnTo>
                  <a:lnTo>
                    <a:pt x="1413157" y="2837851"/>
                  </a:lnTo>
                  <a:lnTo>
                    <a:pt x="1393309" y="2864040"/>
                  </a:lnTo>
                  <a:lnTo>
                    <a:pt x="1371874" y="2891024"/>
                  </a:lnTo>
                  <a:lnTo>
                    <a:pt x="1350438" y="2917214"/>
                  </a:lnTo>
                  <a:lnTo>
                    <a:pt x="1329003" y="2942610"/>
                  </a:lnTo>
                  <a:lnTo>
                    <a:pt x="1305979" y="2966419"/>
                  </a:lnTo>
                  <a:lnTo>
                    <a:pt x="1282162" y="2990228"/>
                  </a:lnTo>
                  <a:lnTo>
                    <a:pt x="1258345" y="3013244"/>
                  </a:lnTo>
                  <a:lnTo>
                    <a:pt x="1234528" y="3035465"/>
                  </a:lnTo>
                  <a:lnTo>
                    <a:pt x="1209122" y="3056893"/>
                  </a:lnTo>
                  <a:lnTo>
                    <a:pt x="1182130" y="3078321"/>
                  </a:lnTo>
                  <a:lnTo>
                    <a:pt x="1157518" y="3098956"/>
                  </a:lnTo>
                  <a:lnTo>
                    <a:pt x="1129732" y="3118797"/>
                  </a:lnTo>
                  <a:lnTo>
                    <a:pt x="1102739" y="3137844"/>
                  </a:lnTo>
                  <a:lnTo>
                    <a:pt x="1074158" y="3156891"/>
                  </a:lnTo>
                  <a:lnTo>
                    <a:pt x="1046371" y="3174351"/>
                  </a:lnTo>
                  <a:lnTo>
                    <a:pt x="1016997" y="3191811"/>
                  </a:lnTo>
                  <a:lnTo>
                    <a:pt x="432680" y="3523550"/>
                  </a:lnTo>
                  <a:lnTo>
                    <a:pt x="416008" y="3532280"/>
                  </a:lnTo>
                  <a:lnTo>
                    <a:pt x="398542" y="3540216"/>
                  </a:lnTo>
                  <a:lnTo>
                    <a:pt x="380282" y="3545772"/>
                  </a:lnTo>
                  <a:lnTo>
                    <a:pt x="362816" y="3552121"/>
                  </a:lnTo>
                  <a:lnTo>
                    <a:pt x="343763" y="3556089"/>
                  </a:lnTo>
                  <a:lnTo>
                    <a:pt x="326297" y="3558470"/>
                  </a:lnTo>
                  <a:lnTo>
                    <a:pt x="307243" y="3561644"/>
                  </a:lnTo>
                  <a:lnTo>
                    <a:pt x="289777" y="3561644"/>
                  </a:lnTo>
                  <a:lnTo>
                    <a:pt x="270723" y="3561644"/>
                  </a:lnTo>
                  <a:lnTo>
                    <a:pt x="251669" y="3558470"/>
                  </a:lnTo>
                  <a:lnTo>
                    <a:pt x="233409" y="3556089"/>
                  </a:lnTo>
                  <a:lnTo>
                    <a:pt x="215149" y="3551327"/>
                  </a:lnTo>
                  <a:lnTo>
                    <a:pt x="197683" y="3545772"/>
                  </a:lnTo>
                  <a:lnTo>
                    <a:pt x="180217" y="3540216"/>
                  </a:lnTo>
                  <a:lnTo>
                    <a:pt x="162751" y="3532280"/>
                  </a:lnTo>
                  <a:lnTo>
                    <a:pt x="146079" y="3523550"/>
                  </a:lnTo>
                  <a:lnTo>
                    <a:pt x="129407" y="3513233"/>
                  </a:lnTo>
                  <a:lnTo>
                    <a:pt x="114323" y="3502122"/>
                  </a:lnTo>
                  <a:lnTo>
                    <a:pt x="99239" y="3491011"/>
                  </a:lnTo>
                  <a:lnTo>
                    <a:pt x="85742" y="3476726"/>
                  </a:lnTo>
                  <a:lnTo>
                    <a:pt x="71452" y="3463234"/>
                  </a:lnTo>
                  <a:lnTo>
                    <a:pt x="58749" y="3448155"/>
                  </a:lnTo>
                  <a:lnTo>
                    <a:pt x="47635" y="3431489"/>
                  </a:lnTo>
                  <a:lnTo>
                    <a:pt x="37314" y="3414822"/>
                  </a:lnTo>
                  <a:lnTo>
                    <a:pt x="30169" y="3401331"/>
                  </a:lnTo>
                  <a:lnTo>
                    <a:pt x="23817" y="3387045"/>
                  </a:lnTo>
                  <a:lnTo>
                    <a:pt x="13497" y="3360855"/>
                  </a:lnTo>
                  <a:lnTo>
                    <a:pt x="6352" y="3333078"/>
                  </a:lnTo>
                  <a:lnTo>
                    <a:pt x="794" y="3305301"/>
                  </a:lnTo>
                  <a:lnTo>
                    <a:pt x="0" y="3276730"/>
                  </a:lnTo>
                  <a:lnTo>
                    <a:pt x="0" y="3248953"/>
                  </a:lnTo>
                  <a:lnTo>
                    <a:pt x="3970" y="3221176"/>
                  </a:lnTo>
                  <a:lnTo>
                    <a:pt x="10321" y="3194192"/>
                  </a:lnTo>
                  <a:lnTo>
                    <a:pt x="19054" y="3168002"/>
                  </a:lnTo>
                  <a:lnTo>
                    <a:pt x="30169" y="3141812"/>
                  </a:lnTo>
                  <a:lnTo>
                    <a:pt x="42871" y="3118003"/>
                  </a:lnTo>
                  <a:lnTo>
                    <a:pt x="58749" y="3094988"/>
                  </a:lnTo>
                  <a:lnTo>
                    <a:pt x="77803" y="3073560"/>
                  </a:lnTo>
                  <a:lnTo>
                    <a:pt x="98445" y="3053719"/>
                  </a:lnTo>
                  <a:lnTo>
                    <a:pt x="120674" y="3034672"/>
                  </a:lnTo>
                  <a:lnTo>
                    <a:pt x="133377" y="3026735"/>
                  </a:lnTo>
                  <a:lnTo>
                    <a:pt x="146079" y="3019593"/>
                  </a:lnTo>
                  <a:lnTo>
                    <a:pt x="729602" y="2686267"/>
                  </a:lnTo>
                  <a:lnTo>
                    <a:pt x="761358" y="2668806"/>
                  </a:lnTo>
                  <a:lnTo>
                    <a:pt x="791527" y="2647378"/>
                  </a:lnTo>
                  <a:lnTo>
                    <a:pt x="819314" y="2625950"/>
                  </a:lnTo>
                  <a:lnTo>
                    <a:pt x="847100" y="2603728"/>
                  </a:lnTo>
                  <a:lnTo>
                    <a:pt x="873299" y="2578332"/>
                  </a:lnTo>
                  <a:lnTo>
                    <a:pt x="898704" y="2552142"/>
                  </a:lnTo>
                  <a:lnTo>
                    <a:pt x="921728" y="2525159"/>
                  </a:lnTo>
                  <a:lnTo>
                    <a:pt x="943957" y="2496588"/>
                  </a:lnTo>
                  <a:lnTo>
                    <a:pt x="1511602" y="1717239"/>
                  </a:lnTo>
                  <a:lnTo>
                    <a:pt x="1526686" y="1698986"/>
                  </a:lnTo>
                  <a:lnTo>
                    <a:pt x="1544152" y="1680732"/>
                  </a:lnTo>
                  <a:lnTo>
                    <a:pt x="1561618" y="1665653"/>
                  </a:lnTo>
                  <a:lnTo>
                    <a:pt x="1579878" y="1652161"/>
                  </a:lnTo>
                  <a:lnTo>
                    <a:pt x="1595756" y="1635495"/>
                  </a:lnTo>
                  <a:lnTo>
                    <a:pt x="1612428" y="1619622"/>
                  </a:lnTo>
                  <a:lnTo>
                    <a:pt x="1629100" y="1603750"/>
                  </a:lnTo>
                  <a:lnTo>
                    <a:pt x="1646566" y="1588671"/>
                  </a:lnTo>
                  <a:lnTo>
                    <a:pt x="1665620" y="1573592"/>
                  </a:lnTo>
                  <a:lnTo>
                    <a:pt x="1683086" y="1560100"/>
                  </a:lnTo>
                  <a:lnTo>
                    <a:pt x="1702140" y="1547402"/>
                  </a:lnTo>
                  <a:lnTo>
                    <a:pt x="1721987" y="1534704"/>
                  </a:lnTo>
                  <a:lnTo>
                    <a:pt x="1742629" y="1522006"/>
                  </a:lnTo>
                  <a:lnTo>
                    <a:pt x="1762477" y="1510895"/>
                  </a:lnTo>
                  <a:lnTo>
                    <a:pt x="1783912" y="1500577"/>
                  </a:lnTo>
                  <a:lnTo>
                    <a:pt x="1805348" y="1491054"/>
                  </a:lnTo>
                  <a:lnTo>
                    <a:pt x="1828371" y="1481530"/>
                  </a:lnTo>
                  <a:lnTo>
                    <a:pt x="1850600" y="1472800"/>
                  </a:lnTo>
                  <a:lnTo>
                    <a:pt x="1873624" y="1465658"/>
                  </a:lnTo>
                  <a:lnTo>
                    <a:pt x="1895853" y="1457721"/>
                  </a:lnTo>
                  <a:lnTo>
                    <a:pt x="1927609" y="1450579"/>
                  </a:lnTo>
                  <a:lnTo>
                    <a:pt x="1959366" y="1444229"/>
                  </a:lnTo>
                  <a:lnTo>
                    <a:pt x="1989534" y="1440261"/>
                  </a:lnTo>
                  <a:lnTo>
                    <a:pt x="2021291" y="1436293"/>
                  </a:lnTo>
                  <a:close/>
                  <a:moveTo>
                    <a:pt x="1547613" y="0"/>
                  </a:moveTo>
                  <a:cubicBezTo>
                    <a:pt x="1912452" y="0"/>
                    <a:pt x="2208213" y="295761"/>
                    <a:pt x="2208213" y="660600"/>
                  </a:cubicBezTo>
                  <a:cubicBezTo>
                    <a:pt x="2208213" y="1025439"/>
                    <a:pt x="1912452" y="1321200"/>
                    <a:pt x="1547613" y="1321200"/>
                  </a:cubicBezTo>
                  <a:cubicBezTo>
                    <a:pt x="1182774" y="1321200"/>
                    <a:pt x="887013" y="1025439"/>
                    <a:pt x="887013" y="660600"/>
                  </a:cubicBezTo>
                  <a:cubicBezTo>
                    <a:pt x="887013" y="295761"/>
                    <a:pt x="1182774" y="0"/>
                    <a:pt x="1547613" y="0"/>
                  </a:cubicBezTo>
                  <a:close/>
                </a:path>
              </a:pathLst>
            </a:custGeom>
            <a:solidFill>
              <a:srgbClr val="52ACA4"/>
            </a:solidFill>
            <a:ln w="9525">
              <a:noFill/>
              <a:round/>
            </a:ln>
          </p:spPr>
          <p:txBody>
            <a:bodyPr vert="horz" wrap="square" lIns="91440" tIns="45720" rIns="91440" bIns="45720" numCol="1" anchor="t" anchorCtr="0" compatLnSpc="1">
              <a:noAutofit/>
            </a:bodyPr>
            <a:lstStyle/>
            <a:p>
              <a:endParaRPr lang="zh-CN" altLang="en-US">
                <a:latin typeface="微软雅黑" panose="020B0503020204020204" pitchFamily="34" charset="-122"/>
                <a:ea typeface="微软雅黑" panose="020B0503020204020204" pitchFamily="34" charset="-122"/>
              </a:endParaRPr>
            </a:p>
          </p:txBody>
        </p:sp>
        <p:sp>
          <p:nvSpPr>
            <p:cNvPr id="17" name="任意多边形 16"/>
            <p:cNvSpPr/>
            <p:nvPr/>
          </p:nvSpPr>
          <p:spPr>
            <a:xfrm>
              <a:off x="2203450" y="770309"/>
              <a:ext cx="3981450" cy="6856812"/>
            </a:xfrm>
            <a:custGeom>
              <a:avLst/>
              <a:gdLst>
                <a:gd name="connsiteX0" fmla="*/ 1899029 w 3981450"/>
                <a:gd name="connsiteY0" fmla="*/ 1433912 h 6856812"/>
                <a:gd name="connsiteX1" fmla="*/ 1929991 w 3981450"/>
                <a:gd name="connsiteY1" fmla="*/ 1433912 h 6856812"/>
                <a:gd name="connsiteX2" fmla="*/ 1960160 w 3981450"/>
                <a:gd name="connsiteY2" fmla="*/ 1436293 h 6856812"/>
                <a:gd name="connsiteX3" fmla="*/ 1991916 w 3981450"/>
                <a:gd name="connsiteY3" fmla="*/ 1440261 h 6856812"/>
                <a:gd name="connsiteX4" fmla="*/ 2022085 w 3981450"/>
                <a:gd name="connsiteY4" fmla="*/ 1444229 h 6856812"/>
                <a:gd name="connsiteX5" fmla="*/ 2053841 w 3981450"/>
                <a:gd name="connsiteY5" fmla="*/ 1450579 h 6856812"/>
                <a:gd name="connsiteX6" fmla="*/ 2084009 w 3981450"/>
                <a:gd name="connsiteY6" fmla="*/ 1457721 h 6856812"/>
                <a:gd name="connsiteX7" fmla="*/ 2107827 w 3981450"/>
                <a:gd name="connsiteY7" fmla="*/ 1465658 h 6856812"/>
                <a:gd name="connsiteX8" fmla="*/ 2130850 w 3981450"/>
                <a:gd name="connsiteY8" fmla="*/ 1472800 h 6856812"/>
                <a:gd name="connsiteX9" fmla="*/ 2153079 w 3981450"/>
                <a:gd name="connsiteY9" fmla="*/ 1481530 h 6856812"/>
                <a:gd name="connsiteX10" fmla="*/ 2176103 w 3981450"/>
                <a:gd name="connsiteY10" fmla="*/ 1491054 h 6856812"/>
                <a:gd name="connsiteX11" fmla="*/ 2197538 w 3981450"/>
                <a:gd name="connsiteY11" fmla="*/ 1500577 h 6856812"/>
                <a:gd name="connsiteX12" fmla="*/ 2218974 w 3981450"/>
                <a:gd name="connsiteY12" fmla="*/ 1510895 h 6856812"/>
                <a:gd name="connsiteX13" fmla="*/ 2238821 w 3981450"/>
                <a:gd name="connsiteY13" fmla="*/ 1522006 h 6856812"/>
                <a:gd name="connsiteX14" fmla="*/ 2259463 w 3981450"/>
                <a:gd name="connsiteY14" fmla="*/ 1534704 h 6856812"/>
                <a:gd name="connsiteX15" fmla="*/ 2278517 w 3981450"/>
                <a:gd name="connsiteY15" fmla="*/ 1547402 h 6856812"/>
                <a:gd name="connsiteX16" fmla="*/ 2298365 w 3981450"/>
                <a:gd name="connsiteY16" fmla="*/ 1560100 h 6856812"/>
                <a:gd name="connsiteX17" fmla="*/ 2315831 w 3981450"/>
                <a:gd name="connsiteY17" fmla="*/ 1573592 h 6856812"/>
                <a:gd name="connsiteX18" fmla="*/ 2334884 w 3981450"/>
                <a:gd name="connsiteY18" fmla="*/ 1588671 h 6856812"/>
                <a:gd name="connsiteX19" fmla="*/ 2351556 w 3981450"/>
                <a:gd name="connsiteY19" fmla="*/ 1603750 h 6856812"/>
                <a:gd name="connsiteX20" fmla="*/ 2369022 w 3981450"/>
                <a:gd name="connsiteY20" fmla="*/ 1619622 h 6856812"/>
                <a:gd name="connsiteX21" fmla="*/ 2385694 w 3981450"/>
                <a:gd name="connsiteY21" fmla="*/ 1635495 h 6856812"/>
                <a:gd name="connsiteX22" fmla="*/ 2400779 w 3981450"/>
                <a:gd name="connsiteY22" fmla="*/ 1652161 h 6856812"/>
                <a:gd name="connsiteX23" fmla="*/ 2419833 w 3981450"/>
                <a:gd name="connsiteY23" fmla="*/ 1665653 h 6856812"/>
                <a:gd name="connsiteX24" fmla="*/ 2437299 w 3981450"/>
                <a:gd name="connsiteY24" fmla="*/ 1680732 h 6856812"/>
                <a:gd name="connsiteX25" fmla="*/ 2453177 w 3981450"/>
                <a:gd name="connsiteY25" fmla="*/ 1698986 h 6856812"/>
                <a:gd name="connsiteX26" fmla="*/ 2469849 w 3981450"/>
                <a:gd name="connsiteY26" fmla="*/ 1717239 h 6856812"/>
                <a:gd name="connsiteX27" fmla="*/ 3037493 w 3981450"/>
                <a:gd name="connsiteY27" fmla="*/ 2496588 h 6856812"/>
                <a:gd name="connsiteX28" fmla="*/ 3059723 w 3981450"/>
                <a:gd name="connsiteY28" fmla="*/ 2525159 h 6856812"/>
                <a:gd name="connsiteX29" fmla="*/ 3082746 w 3981450"/>
                <a:gd name="connsiteY29" fmla="*/ 2552142 h 6856812"/>
                <a:gd name="connsiteX30" fmla="*/ 3108151 w 3981450"/>
                <a:gd name="connsiteY30" fmla="*/ 2578332 h 6856812"/>
                <a:gd name="connsiteX31" fmla="*/ 3134350 w 3981450"/>
                <a:gd name="connsiteY31" fmla="*/ 2603728 h 6856812"/>
                <a:gd name="connsiteX32" fmla="*/ 3162137 w 3981450"/>
                <a:gd name="connsiteY32" fmla="*/ 2625950 h 6856812"/>
                <a:gd name="connsiteX33" fmla="*/ 3189924 w 3981450"/>
                <a:gd name="connsiteY33" fmla="*/ 2647378 h 6856812"/>
                <a:gd name="connsiteX34" fmla="*/ 3220092 w 3981450"/>
                <a:gd name="connsiteY34" fmla="*/ 2668806 h 6856812"/>
                <a:gd name="connsiteX35" fmla="*/ 3251848 w 3981450"/>
                <a:gd name="connsiteY35" fmla="*/ 2686267 h 6856812"/>
                <a:gd name="connsiteX36" fmla="*/ 3835371 w 3981450"/>
                <a:gd name="connsiteY36" fmla="*/ 3019593 h 6856812"/>
                <a:gd name="connsiteX37" fmla="*/ 3848074 w 3981450"/>
                <a:gd name="connsiteY37" fmla="*/ 3026735 h 6856812"/>
                <a:gd name="connsiteX38" fmla="*/ 3860776 w 3981450"/>
                <a:gd name="connsiteY38" fmla="*/ 3034672 h 6856812"/>
                <a:gd name="connsiteX39" fmla="*/ 3883005 w 3981450"/>
                <a:gd name="connsiteY39" fmla="*/ 3053719 h 6856812"/>
                <a:gd name="connsiteX40" fmla="*/ 3903647 w 3981450"/>
                <a:gd name="connsiteY40" fmla="*/ 3073560 h 6856812"/>
                <a:gd name="connsiteX41" fmla="*/ 3922701 w 3981450"/>
                <a:gd name="connsiteY41" fmla="*/ 3094988 h 6856812"/>
                <a:gd name="connsiteX42" fmla="*/ 3937785 w 3981450"/>
                <a:gd name="connsiteY42" fmla="*/ 3118003 h 6856812"/>
                <a:gd name="connsiteX43" fmla="*/ 3951282 w 3981450"/>
                <a:gd name="connsiteY43" fmla="*/ 3141812 h 6856812"/>
                <a:gd name="connsiteX44" fmla="*/ 3962396 w 3981450"/>
                <a:gd name="connsiteY44" fmla="*/ 3168002 h 6856812"/>
                <a:gd name="connsiteX45" fmla="*/ 3971129 w 3981450"/>
                <a:gd name="connsiteY45" fmla="*/ 3194192 h 6856812"/>
                <a:gd name="connsiteX46" fmla="*/ 3977481 w 3981450"/>
                <a:gd name="connsiteY46" fmla="*/ 3221176 h 6856812"/>
                <a:gd name="connsiteX47" fmla="*/ 3981450 w 3981450"/>
                <a:gd name="connsiteY47" fmla="*/ 3248953 h 6856812"/>
                <a:gd name="connsiteX48" fmla="*/ 3981450 w 3981450"/>
                <a:gd name="connsiteY48" fmla="*/ 3276730 h 6856812"/>
                <a:gd name="connsiteX49" fmla="*/ 3980656 w 3981450"/>
                <a:gd name="connsiteY49" fmla="*/ 3305301 h 6856812"/>
                <a:gd name="connsiteX50" fmla="*/ 3975099 w 3981450"/>
                <a:gd name="connsiteY50" fmla="*/ 3333078 h 6856812"/>
                <a:gd name="connsiteX51" fmla="*/ 3967954 w 3981450"/>
                <a:gd name="connsiteY51" fmla="*/ 3360855 h 6856812"/>
                <a:gd name="connsiteX52" fmla="*/ 3957633 w 3981450"/>
                <a:gd name="connsiteY52" fmla="*/ 3387045 h 6856812"/>
                <a:gd name="connsiteX53" fmla="*/ 3951282 w 3981450"/>
                <a:gd name="connsiteY53" fmla="*/ 3401331 h 6856812"/>
                <a:gd name="connsiteX54" fmla="*/ 3944136 w 3981450"/>
                <a:gd name="connsiteY54" fmla="*/ 3414822 h 6856812"/>
                <a:gd name="connsiteX55" fmla="*/ 3933816 w 3981450"/>
                <a:gd name="connsiteY55" fmla="*/ 3431489 h 6856812"/>
                <a:gd name="connsiteX56" fmla="*/ 3922701 w 3981450"/>
                <a:gd name="connsiteY56" fmla="*/ 3448155 h 6856812"/>
                <a:gd name="connsiteX57" fmla="*/ 3909998 w 3981450"/>
                <a:gd name="connsiteY57" fmla="*/ 3463234 h 6856812"/>
                <a:gd name="connsiteX58" fmla="*/ 3895708 w 3981450"/>
                <a:gd name="connsiteY58" fmla="*/ 3476726 h 6856812"/>
                <a:gd name="connsiteX59" fmla="*/ 3882212 w 3981450"/>
                <a:gd name="connsiteY59" fmla="*/ 3491011 h 6856812"/>
                <a:gd name="connsiteX60" fmla="*/ 3867127 w 3981450"/>
                <a:gd name="connsiteY60" fmla="*/ 3502122 h 6856812"/>
                <a:gd name="connsiteX61" fmla="*/ 3852043 w 3981450"/>
                <a:gd name="connsiteY61" fmla="*/ 3513233 h 6856812"/>
                <a:gd name="connsiteX62" fmla="*/ 3835371 w 3981450"/>
                <a:gd name="connsiteY62" fmla="*/ 3523550 h 6856812"/>
                <a:gd name="connsiteX63" fmla="*/ 3818699 w 3981450"/>
                <a:gd name="connsiteY63" fmla="*/ 3532280 h 6856812"/>
                <a:gd name="connsiteX64" fmla="*/ 3801233 w 3981450"/>
                <a:gd name="connsiteY64" fmla="*/ 3540216 h 6856812"/>
                <a:gd name="connsiteX65" fmla="*/ 3783767 w 3981450"/>
                <a:gd name="connsiteY65" fmla="*/ 3545772 h 6856812"/>
                <a:gd name="connsiteX66" fmla="*/ 3766301 w 3981450"/>
                <a:gd name="connsiteY66" fmla="*/ 3551327 h 6856812"/>
                <a:gd name="connsiteX67" fmla="*/ 3747247 w 3981450"/>
                <a:gd name="connsiteY67" fmla="*/ 3556089 h 6856812"/>
                <a:gd name="connsiteX68" fmla="*/ 3729781 w 3981450"/>
                <a:gd name="connsiteY68" fmla="*/ 3558470 h 6856812"/>
                <a:gd name="connsiteX69" fmla="*/ 3710727 w 3981450"/>
                <a:gd name="connsiteY69" fmla="*/ 3561644 h 6856812"/>
                <a:gd name="connsiteX70" fmla="*/ 3691674 w 3981450"/>
                <a:gd name="connsiteY70" fmla="*/ 3561644 h 6856812"/>
                <a:gd name="connsiteX71" fmla="*/ 3672620 w 3981450"/>
                <a:gd name="connsiteY71" fmla="*/ 3561644 h 6856812"/>
                <a:gd name="connsiteX72" fmla="*/ 3655154 w 3981450"/>
                <a:gd name="connsiteY72" fmla="*/ 3558470 h 6856812"/>
                <a:gd name="connsiteX73" fmla="*/ 3636100 w 3981450"/>
                <a:gd name="connsiteY73" fmla="*/ 3556089 h 6856812"/>
                <a:gd name="connsiteX74" fmla="*/ 3618634 w 3981450"/>
                <a:gd name="connsiteY74" fmla="*/ 3552121 h 6856812"/>
                <a:gd name="connsiteX75" fmla="*/ 3601168 w 3981450"/>
                <a:gd name="connsiteY75" fmla="*/ 3545772 h 6856812"/>
                <a:gd name="connsiteX76" fmla="*/ 3582908 w 3981450"/>
                <a:gd name="connsiteY76" fmla="*/ 3540216 h 6856812"/>
                <a:gd name="connsiteX77" fmla="*/ 3565442 w 3981450"/>
                <a:gd name="connsiteY77" fmla="*/ 3532280 h 6856812"/>
                <a:gd name="connsiteX78" fmla="*/ 3547976 w 3981450"/>
                <a:gd name="connsiteY78" fmla="*/ 3523550 h 6856812"/>
                <a:gd name="connsiteX79" fmla="*/ 2964454 w 3981450"/>
                <a:gd name="connsiteY79" fmla="*/ 3191811 h 6856812"/>
                <a:gd name="connsiteX80" fmla="*/ 2935079 w 3981450"/>
                <a:gd name="connsiteY80" fmla="*/ 3174351 h 6856812"/>
                <a:gd name="connsiteX81" fmla="*/ 2907292 w 3981450"/>
                <a:gd name="connsiteY81" fmla="*/ 3156891 h 6856812"/>
                <a:gd name="connsiteX82" fmla="*/ 2878712 w 3981450"/>
                <a:gd name="connsiteY82" fmla="*/ 3137844 h 6856812"/>
                <a:gd name="connsiteX83" fmla="*/ 2851719 w 3981450"/>
                <a:gd name="connsiteY83" fmla="*/ 3118797 h 6856812"/>
                <a:gd name="connsiteX84" fmla="*/ 2823932 w 3981450"/>
                <a:gd name="connsiteY84" fmla="*/ 3098956 h 6856812"/>
                <a:gd name="connsiteX85" fmla="*/ 2797733 w 3981450"/>
                <a:gd name="connsiteY85" fmla="*/ 3078321 h 6856812"/>
                <a:gd name="connsiteX86" fmla="*/ 2772328 w 3981450"/>
                <a:gd name="connsiteY86" fmla="*/ 3056893 h 6856812"/>
                <a:gd name="connsiteX87" fmla="*/ 2746923 w 3981450"/>
                <a:gd name="connsiteY87" fmla="*/ 3035465 h 6856812"/>
                <a:gd name="connsiteX88" fmla="*/ 2723106 w 3981450"/>
                <a:gd name="connsiteY88" fmla="*/ 3013244 h 6856812"/>
                <a:gd name="connsiteX89" fmla="*/ 2699288 w 3981450"/>
                <a:gd name="connsiteY89" fmla="*/ 2990228 h 6856812"/>
                <a:gd name="connsiteX90" fmla="*/ 2675471 w 3981450"/>
                <a:gd name="connsiteY90" fmla="*/ 2966419 h 6856812"/>
                <a:gd name="connsiteX91" fmla="*/ 2652448 w 3981450"/>
                <a:gd name="connsiteY91" fmla="*/ 2942610 h 6856812"/>
                <a:gd name="connsiteX92" fmla="*/ 2630218 w 3981450"/>
                <a:gd name="connsiteY92" fmla="*/ 2917214 h 6856812"/>
                <a:gd name="connsiteX93" fmla="*/ 2608783 w 3981450"/>
                <a:gd name="connsiteY93" fmla="*/ 2891024 h 6856812"/>
                <a:gd name="connsiteX94" fmla="*/ 2588141 w 3981450"/>
                <a:gd name="connsiteY94" fmla="*/ 2864040 h 6856812"/>
                <a:gd name="connsiteX95" fmla="*/ 2568293 w 3981450"/>
                <a:gd name="connsiteY95" fmla="*/ 2837851 h 6856812"/>
                <a:gd name="connsiteX96" fmla="*/ 2450795 w 3981450"/>
                <a:gd name="connsiteY96" fmla="*/ 2676743 h 6856812"/>
                <a:gd name="connsiteX97" fmla="*/ 2251524 w 3981450"/>
                <a:gd name="connsiteY97" fmla="*/ 3396569 h 6856812"/>
                <a:gd name="connsiteX98" fmla="*/ 2244379 w 3981450"/>
                <a:gd name="connsiteY98" fmla="*/ 3420378 h 6856812"/>
                <a:gd name="connsiteX99" fmla="*/ 2235646 w 3981450"/>
                <a:gd name="connsiteY99" fmla="*/ 3442599 h 6856812"/>
                <a:gd name="connsiteX100" fmla="*/ 2226913 w 3981450"/>
                <a:gd name="connsiteY100" fmla="*/ 3466408 h 6856812"/>
                <a:gd name="connsiteX101" fmla="*/ 2217386 w 3981450"/>
                <a:gd name="connsiteY101" fmla="*/ 3489424 h 6856812"/>
                <a:gd name="connsiteX102" fmla="*/ 2904911 w 3981450"/>
                <a:gd name="connsiteY102" fmla="*/ 4429880 h 6856812"/>
                <a:gd name="connsiteX103" fmla="*/ 2930316 w 3981450"/>
                <a:gd name="connsiteY103" fmla="*/ 4466387 h 6856812"/>
                <a:gd name="connsiteX104" fmla="*/ 2954927 w 3981450"/>
                <a:gd name="connsiteY104" fmla="*/ 4502894 h 6856812"/>
                <a:gd name="connsiteX105" fmla="*/ 2979538 w 3981450"/>
                <a:gd name="connsiteY105" fmla="*/ 4540195 h 6856812"/>
                <a:gd name="connsiteX106" fmla="*/ 3003355 w 3981450"/>
                <a:gd name="connsiteY106" fmla="*/ 4579877 h 6856812"/>
                <a:gd name="connsiteX107" fmla="*/ 3024791 w 3981450"/>
                <a:gd name="connsiteY107" fmla="*/ 4617177 h 6856812"/>
                <a:gd name="connsiteX108" fmla="*/ 3046226 w 3981450"/>
                <a:gd name="connsiteY108" fmla="*/ 4656065 h 6856812"/>
                <a:gd name="connsiteX109" fmla="*/ 3065280 w 3981450"/>
                <a:gd name="connsiteY109" fmla="*/ 4696541 h 6856812"/>
                <a:gd name="connsiteX110" fmla="*/ 3083540 w 3981450"/>
                <a:gd name="connsiteY110" fmla="*/ 4737016 h 6856812"/>
                <a:gd name="connsiteX111" fmla="*/ 3102594 w 3981450"/>
                <a:gd name="connsiteY111" fmla="*/ 4777491 h 6856812"/>
                <a:gd name="connsiteX112" fmla="*/ 3119266 w 3981450"/>
                <a:gd name="connsiteY112" fmla="*/ 4818760 h 6856812"/>
                <a:gd name="connsiteX113" fmla="*/ 3134350 w 3981450"/>
                <a:gd name="connsiteY113" fmla="*/ 4860823 h 6856812"/>
                <a:gd name="connsiteX114" fmla="*/ 3149434 w 3981450"/>
                <a:gd name="connsiteY114" fmla="*/ 4902092 h 6856812"/>
                <a:gd name="connsiteX115" fmla="*/ 3163725 w 3981450"/>
                <a:gd name="connsiteY115" fmla="*/ 4944948 h 6856812"/>
                <a:gd name="connsiteX116" fmla="*/ 3175633 w 3981450"/>
                <a:gd name="connsiteY116" fmla="*/ 4987804 h 6856812"/>
                <a:gd name="connsiteX117" fmla="*/ 3187542 w 3981450"/>
                <a:gd name="connsiteY117" fmla="*/ 5032248 h 6856812"/>
                <a:gd name="connsiteX118" fmla="*/ 3197069 w 3981450"/>
                <a:gd name="connsiteY118" fmla="*/ 5075104 h 6856812"/>
                <a:gd name="connsiteX119" fmla="*/ 3497166 w 3981450"/>
                <a:gd name="connsiteY119" fmla="*/ 6414758 h 6856812"/>
                <a:gd name="connsiteX120" fmla="*/ 3501136 w 3981450"/>
                <a:gd name="connsiteY120" fmla="*/ 6433012 h 6856812"/>
                <a:gd name="connsiteX121" fmla="*/ 3503517 w 3981450"/>
                <a:gd name="connsiteY121" fmla="*/ 6451265 h 6856812"/>
                <a:gd name="connsiteX122" fmla="*/ 3505105 w 3981450"/>
                <a:gd name="connsiteY122" fmla="*/ 6470313 h 6856812"/>
                <a:gd name="connsiteX123" fmla="*/ 3505899 w 3981450"/>
                <a:gd name="connsiteY123" fmla="*/ 6487773 h 6856812"/>
                <a:gd name="connsiteX124" fmla="*/ 3505899 w 3981450"/>
                <a:gd name="connsiteY124" fmla="*/ 6506820 h 6856812"/>
                <a:gd name="connsiteX125" fmla="*/ 3505105 w 3981450"/>
                <a:gd name="connsiteY125" fmla="*/ 6524280 h 6856812"/>
                <a:gd name="connsiteX126" fmla="*/ 3503517 w 3981450"/>
                <a:gd name="connsiteY126" fmla="*/ 6541740 h 6856812"/>
                <a:gd name="connsiteX127" fmla="*/ 3500342 w 3981450"/>
                <a:gd name="connsiteY127" fmla="*/ 6559200 h 6856812"/>
                <a:gd name="connsiteX128" fmla="*/ 3497166 w 3981450"/>
                <a:gd name="connsiteY128" fmla="*/ 6575866 h 6856812"/>
                <a:gd name="connsiteX129" fmla="*/ 3492403 w 3981450"/>
                <a:gd name="connsiteY129" fmla="*/ 6593326 h 6856812"/>
                <a:gd name="connsiteX130" fmla="*/ 3487639 w 3981450"/>
                <a:gd name="connsiteY130" fmla="*/ 6609992 h 6856812"/>
                <a:gd name="connsiteX131" fmla="*/ 3481288 w 3981450"/>
                <a:gd name="connsiteY131" fmla="*/ 6625865 h 6856812"/>
                <a:gd name="connsiteX132" fmla="*/ 3474937 w 3981450"/>
                <a:gd name="connsiteY132" fmla="*/ 6642531 h 6856812"/>
                <a:gd name="connsiteX133" fmla="*/ 3466998 w 3981450"/>
                <a:gd name="connsiteY133" fmla="*/ 6657610 h 6856812"/>
                <a:gd name="connsiteX134" fmla="*/ 3458265 w 3981450"/>
                <a:gd name="connsiteY134" fmla="*/ 6672689 h 6856812"/>
                <a:gd name="connsiteX135" fmla="*/ 3449532 w 3981450"/>
                <a:gd name="connsiteY135" fmla="*/ 6687768 h 6856812"/>
                <a:gd name="connsiteX136" fmla="*/ 3440799 w 3981450"/>
                <a:gd name="connsiteY136" fmla="*/ 6702847 h 6856812"/>
                <a:gd name="connsiteX137" fmla="*/ 3429684 w 3981450"/>
                <a:gd name="connsiteY137" fmla="*/ 6717133 h 6856812"/>
                <a:gd name="connsiteX138" fmla="*/ 3419363 w 3981450"/>
                <a:gd name="connsiteY138" fmla="*/ 6730624 h 6856812"/>
                <a:gd name="connsiteX139" fmla="*/ 3406661 w 3981450"/>
                <a:gd name="connsiteY139" fmla="*/ 6743323 h 6856812"/>
                <a:gd name="connsiteX140" fmla="*/ 3395546 w 3981450"/>
                <a:gd name="connsiteY140" fmla="*/ 6756021 h 6856812"/>
                <a:gd name="connsiteX141" fmla="*/ 3381255 w 3981450"/>
                <a:gd name="connsiteY141" fmla="*/ 6767132 h 6856812"/>
                <a:gd name="connsiteX142" fmla="*/ 3368553 w 3981450"/>
                <a:gd name="connsiteY142" fmla="*/ 6779036 h 6856812"/>
                <a:gd name="connsiteX143" fmla="*/ 3353469 w 3981450"/>
                <a:gd name="connsiteY143" fmla="*/ 6788560 h 6856812"/>
                <a:gd name="connsiteX144" fmla="*/ 3339972 w 3981450"/>
                <a:gd name="connsiteY144" fmla="*/ 6798877 h 6856812"/>
                <a:gd name="connsiteX145" fmla="*/ 3324888 w 3981450"/>
                <a:gd name="connsiteY145" fmla="*/ 6809194 h 6856812"/>
                <a:gd name="connsiteX146" fmla="*/ 3308216 w 3981450"/>
                <a:gd name="connsiteY146" fmla="*/ 6816337 h 6856812"/>
                <a:gd name="connsiteX147" fmla="*/ 3291544 w 3981450"/>
                <a:gd name="connsiteY147" fmla="*/ 6825067 h 6856812"/>
                <a:gd name="connsiteX148" fmla="*/ 3275666 w 3981450"/>
                <a:gd name="connsiteY148" fmla="*/ 6831416 h 6856812"/>
                <a:gd name="connsiteX149" fmla="*/ 3258994 w 3981450"/>
                <a:gd name="connsiteY149" fmla="*/ 6837765 h 6856812"/>
                <a:gd name="connsiteX150" fmla="*/ 3241528 w 3981450"/>
                <a:gd name="connsiteY150" fmla="*/ 6843320 h 6856812"/>
                <a:gd name="connsiteX151" fmla="*/ 3222474 w 3981450"/>
                <a:gd name="connsiteY151" fmla="*/ 6848082 h 6856812"/>
                <a:gd name="connsiteX152" fmla="*/ 3202626 w 3981450"/>
                <a:gd name="connsiteY152" fmla="*/ 6852050 h 6856812"/>
                <a:gd name="connsiteX153" fmla="*/ 3181984 w 3981450"/>
                <a:gd name="connsiteY153" fmla="*/ 6854431 h 6856812"/>
                <a:gd name="connsiteX154" fmla="*/ 3163725 w 3981450"/>
                <a:gd name="connsiteY154" fmla="*/ 6856812 h 6856812"/>
                <a:gd name="connsiteX155" fmla="*/ 3143083 w 3981450"/>
                <a:gd name="connsiteY155" fmla="*/ 6856812 h 6856812"/>
                <a:gd name="connsiteX156" fmla="*/ 3111327 w 3981450"/>
                <a:gd name="connsiteY156" fmla="*/ 6855225 h 6856812"/>
                <a:gd name="connsiteX157" fmla="*/ 3081158 w 3981450"/>
                <a:gd name="connsiteY157" fmla="*/ 6852050 h 6856812"/>
                <a:gd name="connsiteX158" fmla="*/ 3052577 w 3981450"/>
                <a:gd name="connsiteY158" fmla="*/ 6845701 h 6856812"/>
                <a:gd name="connsiteX159" fmla="*/ 3023203 w 3981450"/>
                <a:gd name="connsiteY159" fmla="*/ 6836971 h 6856812"/>
                <a:gd name="connsiteX160" fmla="*/ 2995416 w 3981450"/>
                <a:gd name="connsiteY160" fmla="*/ 6825067 h 6856812"/>
                <a:gd name="connsiteX161" fmla="*/ 2967629 w 3981450"/>
                <a:gd name="connsiteY161" fmla="*/ 6811575 h 6856812"/>
                <a:gd name="connsiteX162" fmla="*/ 2943018 w 3981450"/>
                <a:gd name="connsiteY162" fmla="*/ 6796496 h 6856812"/>
                <a:gd name="connsiteX163" fmla="*/ 2918407 w 3981450"/>
                <a:gd name="connsiteY163" fmla="*/ 6779036 h 6856812"/>
                <a:gd name="connsiteX164" fmla="*/ 2896178 w 3981450"/>
                <a:gd name="connsiteY164" fmla="*/ 6758402 h 6856812"/>
                <a:gd name="connsiteX165" fmla="*/ 2874742 w 3981450"/>
                <a:gd name="connsiteY165" fmla="*/ 6736974 h 6856812"/>
                <a:gd name="connsiteX166" fmla="*/ 2854100 w 3981450"/>
                <a:gd name="connsiteY166" fmla="*/ 6714752 h 6856812"/>
                <a:gd name="connsiteX167" fmla="*/ 2838222 w 3981450"/>
                <a:gd name="connsiteY167" fmla="*/ 6689356 h 6856812"/>
                <a:gd name="connsiteX168" fmla="*/ 2821550 w 3981450"/>
                <a:gd name="connsiteY168" fmla="*/ 6662372 h 6856812"/>
                <a:gd name="connsiteX169" fmla="*/ 2808848 w 3981450"/>
                <a:gd name="connsiteY169" fmla="*/ 6633801 h 6856812"/>
                <a:gd name="connsiteX170" fmla="*/ 2797733 w 3981450"/>
                <a:gd name="connsiteY170" fmla="*/ 6604437 h 6856812"/>
                <a:gd name="connsiteX171" fmla="*/ 2789794 w 3981450"/>
                <a:gd name="connsiteY171" fmla="*/ 6573485 h 6856812"/>
                <a:gd name="connsiteX172" fmla="*/ 2489696 w 3981450"/>
                <a:gd name="connsiteY172" fmla="*/ 5233831 h 6856812"/>
                <a:gd name="connsiteX173" fmla="*/ 2476200 w 3981450"/>
                <a:gd name="connsiteY173" fmla="*/ 5183038 h 6856812"/>
                <a:gd name="connsiteX174" fmla="*/ 2461116 w 3981450"/>
                <a:gd name="connsiteY174" fmla="*/ 5133039 h 6856812"/>
                <a:gd name="connsiteX175" fmla="*/ 2443650 w 3981450"/>
                <a:gd name="connsiteY175" fmla="*/ 5083834 h 6856812"/>
                <a:gd name="connsiteX176" fmla="*/ 2423008 w 3981450"/>
                <a:gd name="connsiteY176" fmla="*/ 5037010 h 6856812"/>
                <a:gd name="connsiteX177" fmla="*/ 2400779 w 3981450"/>
                <a:gd name="connsiteY177" fmla="*/ 4990185 h 6856812"/>
                <a:gd name="connsiteX178" fmla="*/ 2375374 w 3981450"/>
                <a:gd name="connsiteY178" fmla="*/ 4944155 h 6856812"/>
                <a:gd name="connsiteX179" fmla="*/ 2349175 w 3981450"/>
                <a:gd name="connsiteY179" fmla="*/ 4899711 h 6856812"/>
                <a:gd name="connsiteX180" fmla="*/ 2318212 w 3981450"/>
                <a:gd name="connsiteY180" fmla="*/ 4856855 h 6856812"/>
                <a:gd name="connsiteX181" fmla="*/ 1612428 w 3981450"/>
                <a:gd name="connsiteY181" fmla="*/ 3891796 h 6856812"/>
                <a:gd name="connsiteX182" fmla="*/ 1607664 w 3981450"/>
                <a:gd name="connsiteY182" fmla="*/ 3891796 h 6856812"/>
                <a:gd name="connsiteX183" fmla="*/ 1565587 w 3981450"/>
                <a:gd name="connsiteY183" fmla="*/ 4665589 h 6856812"/>
                <a:gd name="connsiteX184" fmla="*/ 1562411 w 3981450"/>
                <a:gd name="connsiteY184" fmla="*/ 4717175 h 6856812"/>
                <a:gd name="connsiteX185" fmla="*/ 1558442 w 3981450"/>
                <a:gd name="connsiteY185" fmla="*/ 4769555 h 6856812"/>
                <a:gd name="connsiteX186" fmla="*/ 1552090 w 3981450"/>
                <a:gd name="connsiteY186" fmla="*/ 4821141 h 6856812"/>
                <a:gd name="connsiteX187" fmla="*/ 1544151 w 3981450"/>
                <a:gd name="connsiteY187" fmla="*/ 4871934 h 6856812"/>
                <a:gd name="connsiteX188" fmla="*/ 1537006 w 3981450"/>
                <a:gd name="connsiteY188" fmla="*/ 4923520 h 6856812"/>
                <a:gd name="connsiteX189" fmla="*/ 1526685 w 3981450"/>
                <a:gd name="connsiteY189" fmla="*/ 4974313 h 6856812"/>
                <a:gd name="connsiteX190" fmla="*/ 1516365 w 3981450"/>
                <a:gd name="connsiteY190" fmla="*/ 5024312 h 6856812"/>
                <a:gd name="connsiteX191" fmla="*/ 1504456 w 3981450"/>
                <a:gd name="connsiteY191" fmla="*/ 5075104 h 6856812"/>
                <a:gd name="connsiteX192" fmla="*/ 1491753 w 3981450"/>
                <a:gd name="connsiteY192" fmla="*/ 5125103 h 6856812"/>
                <a:gd name="connsiteX193" fmla="*/ 1476669 w 3981450"/>
                <a:gd name="connsiteY193" fmla="*/ 5174308 h 6856812"/>
                <a:gd name="connsiteX194" fmla="*/ 1461585 w 3981450"/>
                <a:gd name="connsiteY194" fmla="*/ 5225101 h 6856812"/>
                <a:gd name="connsiteX195" fmla="*/ 1444913 w 3981450"/>
                <a:gd name="connsiteY195" fmla="*/ 5274306 h 6856812"/>
                <a:gd name="connsiteX196" fmla="*/ 1427447 w 3981450"/>
                <a:gd name="connsiteY196" fmla="*/ 5321924 h 6856812"/>
                <a:gd name="connsiteX197" fmla="*/ 1406805 w 3981450"/>
                <a:gd name="connsiteY197" fmla="*/ 5371130 h 6856812"/>
                <a:gd name="connsiteX198" fmla="*/ 1386958 w 3981450"/>
                <a:gd name="connsiteY198" fmla="*/ 5418748 h 6856812"/>
                <a:gd name="connsiteX199" fmla="*/ 1365522 w 3981450"/>
                <a:gd name="connsiteY199" fmla="*/ 5465572 h 6856812"/>
                <a:gd name="connsiteX200" fmla="*/ 1357583 w 3981450"/>
                <a:gd name="connsiteY200" fmla="*/ 5480651 h 6856812"/>
                <a:gd name="connsiteX201" fmla="*/ 739922 w 3981450"/>
                <a:gd name="connsiteY201" fmla="*/ 6662372 h 6856812"/>
                <a:gd name="connsiteX202" fmla="*/ 727220 w 3981450"/>
                <a:gd name="connsiteY202" fmla="*/ 6683800 h 6856812"/>
                <a:gd name="connsiteX203" fmla="*/ 713723 w 3981450"/>
                <a:gd name="connsiteY203" fmla="*/ 6705228 h 6856812"/>
                <a:gd name="connsiteX204" fmla="*/ 698639 w 3981450"/>
                <a:gd name="connsiteY204" fmla="*/ 6725863 h 6856812"/>
                <a:gd name="connsiteX205" fmla="*/ 681173 w 3981450"/>
                <a:gd name="connsiteY205" fmla="*/ 6744910 h 6856812"/>
                <a:gd name="connsiteX206" fmla="*/ 662913 w 3981450"/>
                <a:gd name="connsiteY206" fmla="*/ 6762370 h 6856812"/>
                <a:gd name="connsiteX207" fmla="*/ 644653 w 3981450"/>
                <a:gd name="connsiteY207" fmla="*/ 6779036 h 6856812"/>
                <a:gd name="connsiteX208" fmla="*/ 625600 w 3981450"/>
                <a:gd name="connsiteY208" fmla="*/ 6792528 h 6856812"/>
                <a:gd name="connsiteX209" fmla="*/ 604164 w 3981450"/>
                <a:gd name="connsiteY209" fmla="*/ 6806020 h 6856812"/>
                <a:gd name="connsiteX210" fmla="*/ 582729 w 3981450"/>
                <a:gd name="connsiteY210" fmla="*/ 6817924 h 6856812"/>
                <a:gd name="connsiteX211" fmla="*/ 561293 w 3981450"/>
                <a:gd name="connsiteY211" fmla="*/ 6827448 h 6856812"/>
                <a:gd name="connsiteX212" fmla="*/ 538270 w 3981450"/>
                <a:gd name="connsiteY212" fmla="*/ 6836971 h 6856812"/>
                <a:gd name="connsiteX213" fmla="*/ 516040 w 3981450"/>
                <a:gd name="connsiteY213" fmla="*/ 6844114 h 6856812"/>
                <a:gd name="connsiteX214" fmla="*/ 491429 w 3981450"/>
                <a:gd name="connsiteY214" fmla="*/ 6848876 h 6856812"/>
                <a:gd name="connsiteX215" fmla="*/ 467612 w 3981450"/>
                <a:gd name="connsiteY215" fmla="*/ 6852844 h 6856812"/>
                <a:gd name="connsiteX216" fmla="*/ 442207 w 3981450"/>
                <a:gd name="connsiteY216" fmla="*/ 6855225 h 6856812"/>
                <a:gd name="connsiteX217" fmla="*/ 418390 w 3981450"/>
                <a:gd name="connsiteY217" fmla="*/ 6856812 h 6856812"/>
                <a:gd name="connsiteX218" fmla="*/ 396954 w 3981450"/>
                <a:gd name="connsiteY218" fmla="*/ 6856812 h 6856812"/>
                <a:gd name="connsiteX219" fmla="*/ 375518 w 3981450"/>
                <a:gd name="connsiteY219" fmla="*/ 6854431 h 6856812"/>
                <a:gd name="connsiteX220" fmla="*/ 354083 w 3981450"/>
                <a:gd name="connsiteY220" fmla="*/ 6850463 h 6856812"/>
                <a:gd name="connsiteX221" fmla="*/ 334235 w 3981450"/>
                <a:gd name="connsiteY221" fmla="*/ 6846495 h 6856812"/>
                <a:gd name="connsiteX222" fmla="*/ 312800 w 3981450"/>
                <a:gd name="connsiteY222" fmla="*/ 6840146 h 6856812"/>
                <a:gd name="connsiteX223" fmla="*/ 291364 w 3981450"/>
                <a:gd name="connsiteY223" fmla="*/ 6833797 h 6856812"/>
                <a:gd name="connsiteX224" fmla="*/ 270723 w 3981450"/>
                <a:gd name="connsiteY224" fmla="*/ 6825067 h 6856812"/>
                <a:gd name="connsiteX225" fmla="*/ 250875 w 3981450"/>
                <a:gd name="connsiteY225" fmla="*/ 6815543 h 6856812"/>
                <a:gd name="connsiteX226" fmla="*/ 234203 w 3981450"/>
                <a:gd name="connsiteY226" fmla="*/ 6806020 h 6856812"/>
                <a:gd name="connsiteX227" fmla="*/ 219119 w 3981450"/>
                <a:gd name="connsiteY227" fmla="*/ 6796496 h 6856812"/>
                <a:gd name="connsiteX228" fmla="*/ 204034 w 3981450"/>
                <a:gd name="connsiteY228" fmla="*/ 6786179 h 6856812"/>
                <a:gd name="connsiteX229" fmla="*/ 188950 w 3981450"/>
                <a:gd name="connsiteY229" fmla="*/ 6775068 h 6856812"/>
                <a:gd name="connsiteX230" fmla="*/ 176248 w 3981450"/>
                <a:gd name="connsiteY230" fmla="*/ 6763163 h 6856812"/>
                <a:gd name="connsiteX231" fmla="*/ 162751 w 3981450"/>
                <a:gd name="connsiteY231" fmla="*/ 6751259 h 6856812"/>
                <a:gd name="connsiteX232" fmla="*/ 150049 w 3981450"/>
                <a:gd name="connsiteY232" fmla="*/ 6738561 h 6856812"/>
                <a:gd name="connsiteX233" fmla="*/ 138934 w 3981450"/>
                <a:gd name="connsiteY233" fmla="*/ 6724275 h 6856812"/>
                <a:gd name="connsiteX234" fmla="*/ 128613 w 3981450"/>
                <a:gd name="connsiteY234" fmla="*/ 6710784 h 6856812"/>
                <a:gd name="connsiteX235" fmla="*/ 118292 w 3981450"/>
                <a:gd name="connsiteY235" fmla="*/ 6696498 h 6856812"/>
                <a:gd name="connsiteX236" fmla="*/ 108765 w 3981450"/>
                <a:gd name="connsiteY236" fmla="*/ 6681419 h 6856812"/>
                <a:gd name="connsiteX237" fmla="*/ 99238 w 3981450"/>
                <a:gd name="connsiteY237" fmla="*/ 6666340 h 6856812"/>
                <a:gd name="connsiteX238" fmla="*/ 92093 w 3981450"/>
                <a:gd name="connsiteY238" fmla="*/ 6651261 h 6856812"/>
                <a:gd name="connsiteX239" fmla="*/ 84154 w 3981450"/>
                <a:gd name="connsiteY239" fmla="*/ 6635388 h 6856812"/>
                <a:gd name="connsiteX240" fmla="*/ 77803 w 3981450"/>
                <a:gd name="connsiteY240" fmla="*/ 6618722 h 6856812"/>
                <a:gd name="connsiteX241" fmla="*/ 73039 w 3981450"/>
                <a:gd name="connsiteY241" fmla="*/ 6602056 h 6856812"/>
                <a:gd name="connsiteX242" fmla="*/ 68276 w 3981450"/>
                <a:gd name="connsiteY242" fmla="*/ 6586183 h 6856812"/>
                <a:gd name="connsiteX243" fmla="*/ 64306 w 3981450"/>
                <a:gd name="connsiteY243" fmla="*/ 6569517 h 6856812"/>
                <a:gd name="connsiteX244" fmla="*/ 60337 w 3981450"/>
                <a:gd name="connsiteY244" fmla="*/ 6552057 h 6856812"/>
                <a:gd name="connsiteX245" fmla="*/ 57955 w 3981450"/>
                <a:gd name="connsiteY245" fmla="*/ 6533803 h 6856812"/>
                <a:gd name="connsiteX246" fmla="*/ 56367 w 3981450"/>
                <a:gd name="connsiteY246" fmla="*/ 6516343 h 6856812"/>
                <a:gd name="connsiteX247" fmla="*/ 56367 w 3981450"/>
                <a:gd name="connsiteY247" fmla="*/ 6500471 h 6856812"/>
                <a:gd name="connsiteX248" fmla="*/ 56367 w 3981450"/>
                <a:gd name="connsiteY248" fmla="*/ 6482217 h 6856812"/>
                <a:gd name="connsiteX249" fmla="*/ 56367 w 3981450"/>
                <a:gd name="connsiteY249" fmla="*/ 6464757 h 6856812"/>
                <a:gd name="connsiteX250" fmla="*/ 59543 w 3981450"/>
                <a:gd name="connsiteY250" fmla="*/ 6447297 h 6856812"/>
                <a:gd name="connsiteX251" fmla="*/ 61925 w 3981450"/>
                <a:gd name="connsiteY251" fmla="*/ 6429837 h 6856812"/>
                <a:gd name="connsiteX252" fmla="*/ 65894 w 3981450"/>
                <a:gd name="connsiteY252" fmla="*/ 6411584 h 6856812"/>
                <a:gd name="connsiteX253" fmla="*/ 70658 w 3981450"/>
                <a:gd name="connsiteY253" fmla="*/ 6394124 h 6856812"/>
                <a:gd name="connsiteX254" fmla="*/ 75421 w 3981450"/>
                <a:gd name="connsiteY254" fmla="*/ 6376664 h 6856812"/>
                <a:gd name="connsiteX255" fmla="*/ 81772 w 3981450"/>
                <a:gd name="connsiteY255" fmla="*/ 6359997 h 6856812"/>
                <a:gd name="connsiteX256" fmla="*/ 89712 w 3981450"/>
                <a:gd name="connsiteY256" fmla="*/ 6342538 h 6856812"/>
                <a:gd name="connsiteX257" fmla="*/ 96857 w 3981450"/>
                <a:gd name="connsiteY257" fmla="*/ 6325871 h 6856812"/>
                <a:gd name="connsiteX258" fmla="*/ 711342 w 3981450"/>
                <a:gd name="connsiteY258" fmla="*/ 5152880 h 6856812"/>
                <a:gd name="connsiteX259" fmla="*/ 724838 w 3981450"/>
                <a:gd name="connsiteY259" fmla="*/ 5121135 h 6856812"/>
                <a:gd name="connsiteX260" fmla="*/ 739128 w 3981450"/>
                <a:gd name="connsiteY260" fmla="*/ 5090183 h 6856812"/>
                <a:gd name="connsiteX261" fmla="*/ 751037 w 3981450"/>
                <a:gd name="connsiteY261" fmla="*/ 5058438 h 6856812"/>
                <a:gd name="connsiteX262" fmla="*/ 762946 w 3981450"/>
                <a:gd name="connsiteY262" fmla="*/ 5025899 h 6856812"/>
                <a:gd name="connsiteX263" fmla="*/ 772473 w 3981450"/>
                <a:gd name="connsiteY263" fmla="*/ 4994154 h 6856812"/>
                <a:gd name="connsiteX264" fmla="*/ 782793 w 3981450"/>
                <a:gd name="connsiteY264" fmla="*/ 4961615 h 6856812"/>
                <a:gd name="connsiteX265" fmla="*/ 793114 w 3981450"/>
                <a:gd name="connsiteY265" fmla="*/ 4928282 h 6856812"/>
                <a:gd name="connsiteX266" fmla="*/ 801847 w 3981450"/>
                <a:gd name="connsiteY266" fmla="*/ 4895743 h 6856812"/>
                <a:gd name="connsiteX267" fmla="*/ 809786 w 3981450"/>
                <a:gd name="connsiteY267" fmla="*/ 4863204 h 6856812"/>
                <a:gd name="connsiteX268" fmla="*/ 815344 w 3981450"/>
                <a:gd name="connsiteY268" fmla="*/ 4829078 h 6856812"/>
                <a:gd name="connsiteX269" fmla="*/ 821695 w 3981450"/>
                <a:gd name="connsiteY269" fmla="*/ 4796539 h 6856812"/>
                <a:gd name="connsiteX270" fmla="*/ 828046 w 3981450"/>
                <a:gd name="connsiteY270" fmla="*/ 4762412 h 6856812"/>
                <a:gd name="connsiteX271" fmla="*/ 832017 w 3981450"/>
                <a:gd name="connsiteY271" fmla="*/ 4728286 h 6856812"/>
                <a:gd name="connsiteX272" fmla="*/ 835985 w 3981450"/>
                <a:gd name="connsiteY272" fmla="*/ 4694160 h 6856812"/>
                <a:gd name="connsiteX273" fmla="*/ 839955 w 3981450"/>
                <a:gd name="connsiteY273" fmla="*/ 4660034 h 6856812"/>
                <a:gd name="connsiteX274" fmla="*/ 840749 w 3981450"/>
                <a:gd name="connsiteY274" fmla="*/ 4625907 h 6856812"/>
                <a:gd name="connsiteX275" fmla="*/ 919346 w 3981450"/>
                <a:gd name="connsiteY275" fmla="*/ 3193399 h 6856812"/>
                <a:gd name="connsiteX276" fmla="*/ 921727 w 3981450"/>
                <a:gd name="connsiteY276" fmla="*/ 3178319 h 6856812"/>
                <a:gd name="connsiteX277" fmla="*/ 924109 w 3981450"/>
                <a:gd name="connsiteY277" fmla="*/ 3163240 h 6856812"/>
                <a:gd name="connsiteX278" fmla="*/ 926491 w 3981450"/>
                <a:gd name="connsiteY278" fmla="*/ 3131495 h 6856812"/>
                <a:gd name="connsiteX279" fmla="*/ 932048 w 3981450"/>
                <a:gd name="connsiteY279" fmla="*/ 3098956 h 6856812"/>
                <a:gd name="connsiteX280" fmla="*/ 938399 w 3981450"/>
                <a:gd name="connsiteY280" fmla="*/ 3067211 h 6856812"/>
                <a:gd name="connsiteX281" fmla="*/ 945545 w 3981450"/>
                <a:gd name="connsiteY281" fmla="*/ 3035465 h 6856812"/>
                <a:gd name="connsiteX282" fmla="*/ 1071776 w 3981450"/>
                <a:gd name="connsiteY282" fmla="*/ 2580713 h 6856812"/>
                <a:gd name="connsiteX283" fmla="*/ 893941 w 3981450"/>
                <a:gd name="connsiteY283" fmla="*/ 2707694 h 6856812"/>
                <a:gd name="connsiteX284" fmla="*/ 882826 w 3981450"/>
                <a:gd name="connsiteY284" fmla="*/ 2715631 h 6856812"/>
                <a:gd name="connsiteX285" fmla="*/ 872505 w 3981450"/>
                <a:gd name="connsiteY285" fmla="*/ 2723567 h 6856812"/>
                <a:gd name="connsiteX286" fmla="*/ 863772 w 3981450"/>
                <a:gd name="connsiteY286" fmla="*/ 2733091 h 6856812"/>
                <a:gd name="connsiteX287" fmla="*/ 855833 w 3981450"/>
                <a:gd name="connsiteY287" fmla="*/ 2743408 h 6856812"/>
                <a:gd name="connsiteX288" fmla="*/ 848688 w 3981450"/>
                <a:gd name="connsiteY288" fmla="*/ 2753725 h 6856812"/>
                <a:gd name="connsiteX289" fmla="*/ 842337 w 3981450"/>
                <a:gd name="connsiteY289" fmla="*/ 2764836 h 6856812"/>
                <a:gd name="connsiteX290" fmla="*/ 836779 w 3981450"/>
                <a:gd name="connsiteY290" fmla="*/ 2777534 h 6856812"/>
                <a:gd name="connsiteX291" fmla="*/ 833604 w 3981450"/>
                <a:gd name="connsiteY291" fmla="*/ 2790233 h 6856812"/>
                <a:gd name="connsiteX292" fmla="*/ 570026 w 3981450"/>
                <a:gd name="connsiteY292" fmla="*/ 3772751 h 6856812"/>
                <a:gd name="connsiteX293" fmla="*/ 562087 w 3981450"/>
                <a:gd name="connsiteY293" fmla="*/ 3796560 h 6856812"/>
                <a:gd name="connsiteX294" fmla="*/ 553354 w 3981450"/>
                <a:gd name="connsiteY294" fmla="*/ 3819575 h 6856812"/>
                <a:gd name="connsiteX295" fmla="*/ 542239 w 3981450"/>
                <a:gd name="connsiteY295" fmla="*/ 3841004 h 6856812"/>
                <a:gd name="connsiteX296" fmla="*/ 529537 w 3981450"/>
                <a:gd name="connsiteY296" fmla="*/ 3860844 h 6856812"/>
                <a:gd name="connsiteX297" fmla="*/ 516040 w 3981450"/>
                <a:gd name="connsiteY297" fmla="*/ 3879892 h 6856812"/>
                <a:gd name="connsiteX298" fmla="*/ 500162 w 3981450"/>
                <a:gd name="connsiteY298" fmla="*/ 3898145 h 6856812"/>
                <a:gd name="connsiteX299" fmla="*/ 482696 w 3981450"/>
                <a:gd name="connsiteY299" fmla="*/ 3914018 h 6856812"/>
                <a:gd name="connsiteX300" fmla="*/ 465230 w 3981450"/>
                <a:gd name="connsiteY300" fmla="*/ 3929097 h 6856812"/>
                <a:gd name="connsiteX301" fmla="*/ 446176 w 3981450"/>
                <a:gd name="connsiteY301" fmla="*/ 3943382 h 6856812"/>
                <a:gd name="connsiteX302" fmla="*/ 426329 w 3981450"/>
                <a:gd name="connsiteY302" fmla="*/ 3954493 h 6856812"/>
                <a:gd name="connsiteX303" fmla="*/ 404893 w 3981450"/>
                <a:gd name="connsiteY303" fmla="*/ 3964810 h 6856812"/>
                <a:gd name="connsiteX304" fmla="*/ 383458 w 3981450"/>
                <a:gd name="connsiteY304" fmla="*/ 3973540 h 6856812"/>
                <a:gd name="connsiteX305" fmla="*/ 360434 w 3981450"/>
                <a:gd name="connsiteY305" fmla="*/ 3979889 h 6856812"/>
                <a:gd name="connsiteX306" fmla="*/ 338205 w 3981450"/>
                <a:gd name="connsiteY306" fmla="*/ 3984651 h 6856812"/>
                <a:gd name="connsiteX307" fmla="*/ 313594 w 3981450"/>
                <a:gd name="connsiteY307" fmla="*/ 3987032 h 6856812"/>
                <a:gd name="connsiteX308" fmla="*/ 289776 w 3981450"/>
                <a:gd name="connsiteY308" fmla="*/ 3988619 h 6856812"/>
                <a:gd name="connsiteX309" fmla="*/ 270723 w 3981450"/>
                <a:gd name="connsiteY309" fmla="*/ 3987032 h 6856812"/>
                <a:gd name="connsiteX310" fmla="*/ 252463 w 3981450"/>
                <a:gd name="connsiteY310" fmla="*/ 3986239 h 6856812"/>
                <a:gd name="connsiteX311" fmla="*/ 233409 w 3981450"/>
                <a:gd name="connsiteY311" fmla="*/ 3982270 h 6856812"/>
                <a:gd name="connsiteX312" fmla="*/ 214355 w 3981450"/>
                <a:gd name="connsiteY312" fmla="*/ 3978302 h 6856812"/>
                <a:gd name="connsiteX313" fmla="*/ 200859 w 3981450"/>
                <a:gd name="connsiteY313" fmla="*/ 3974334 h 6856812"/>
                <a:gd name="connsiteX314" fmla="*/ 186568 w 3981450"/>
                <a:gd name="connsiteY314" fmla="*/ 3969572 h 6856812"/>
                <a:gd name="connsiteX315" fmla="*/ 160369 w 3981450"/>
                <a:gd name="connsiteY315" fmla="*/ 3956874 h 6856812"/>
                <a:gd name="connsiteX316" fmla="*/ 134964 w 3981450"/>
                <a:gd name="connsiteY316" fmla="*/ 3943382 h 6856812"/>
                <a:gd name="connsiteX317" fmla="*/ 111941 w 3981450"/>
                <a:gd name="connsiteY317" fmla="*/ 3926716 h 6856812"/>
                <a:gd name="connsiteX318" fmla="*/ 90505 w 3981450"/>
                <a:gd name="connsiteY318" fmla="*/ 3909256 h 6856812"/>
                <a:gd name="connsiteX319" fmla="*/ 70658 w 3981450"/>
                <a:gd name="connsiteY319" fmla="*/ 3888622 h 6856812"/>
                <a:gd name="connsiteX320" fmla="*/ 53986 w 3981450"/>
                <a:gd name="connsiteY320" fmla="*/ 3866400 h 6856812"/>
                <a:gd name="connsiteX321" fmla="*/ 38901 w 3981450"/>
                <a:gd name="connsiteY321" fmla="*/ 3843384 h 6856812"/>
                <a:gd name="connsiteX322" fmla="*/ 26199 w 3981450"/>
                <a:gd name="connsiteY322" fmla="*/ 3817988 h 6856812"/>
                <a:gd name="connsiteX323" fmla="*/ 15084 w 3981450"/>
                <a:gd name="connsiteY323" fmla="*/ 3793386 h 6856812"/>
                <a:gd name="connsiteX324" fmla="*/ 7939 w 3981450"/>
                <a:gd name="connsiteY324" fmla="*/ 3765608 h 6856812"/>
                <a:gd name="connsiteX325" fmla="*/ 2382 w 3981450"/>
                <a:gd name="connsiteY325" fmla="*/ 3737831 h 6856812"/>
                <a:gd name="connsiteX326" fmla="*/ 0 w 3981450"/>
                <a:gd name="connsiteY326" fmla="*/ 3710054 h 6856812"/>
                <a:gd name="connsiteX327" fmla="*/ 0 w 3981450"/>
                <a:gd name="connsiteY327" fmla="*/ 3680690 h 6856812"/>
                <a:gd name="connsiteX328" fmla="*/ 3969 w 3981450"/>
                <a:gd name="connsiteY328" fmla="*/ 3652119 h 6856812"/>
                <a:gd name="connsiteX329" fmla="*/ 6351 w 3981450"/>
                <a:gd name="connsiteY329" fmla="*/ 3637833 h 6856812"/>
                <a:gd name="connsiteX330" fmla="*/ 10321 w 3981450"/>
                <a:gd name="connsiteY330" fmla="*/ 3622754 h 6856812"/>
                <a:gd name="connsiteX331" fmla="*/ 272310 w 3981450"/>
                <a:gd name="connsiteY331" fmla="*/ 2640236 h 6856812"/>
                <a:gd name="connsiteX332" fmla="*/ 282631 w 3981450"/>
                <a:gd name="connsiteY332" fmla="*/ 2606903 h 6856812"/>
                <a:gd name="connsiteX333" fmla="*/ 292158 w 3981450"/>
                <a:gd name="connsiteY333" fmla="*/ 2576745 h 6856812"/>
                <a:gd name="connsiteX334" fmla="*/ 304861 w 3981450"/>
                <a:gd name="connsiteY334" fmla="*/ 2545793 h 6856812"/>
                <a:gd name="connsiteX335" fmla="*/ 319151 w 3981450"/>
                <a:gd name="connsiteY335" fmla="*/ 2516429 h 6856812"/>
                <a:gd name="connsiteX336" fmla="*/ 332647 w 3981450"/>
                <a:gd name="connsiteY336" fmla="*/ 2487858 h 6856812"/>
                <a:gd name="connsiteX337" fmla="*/ 349320 w 3981450"/>
                <a:gd name="connsiteY337" fmla="*/ 2458493 h 6856812"/>
                <a:gd name="connsiteX338" fmla="*/ 366785 w 3981450"/>
                <a:gd name="connsiteY338" fmla="*/ 2430716 h 6856812"/>
                <a:gd name="connsiteX339" fmla="*/ 384251 w 3981450"/>
                <a:gd name="connsiteY339" fmla="*/ 2404526 h 6856812"/>
                <a:gd name="connsiteX340" fmla="*/ 404893 w 3981450"/>
                <a:gd name="connsiteY340" fmla="*/ 2377543 h 6856812"/>
                <a:gd name="connsiteX341" fmla="*/ 424741 w 3981450"/>
                <a:gd name="connsiteY341" fmla="*/ 2352940 h 6856812"/>
                <a:gd name="connsiteX342" fmla="*/ 447764 w 3981450"/>
                <a:gd name="connsiteY342" fmla="*/ 2329131 h 6856812"/>
                <a:gd name="connsiteX343" fmla="*/ 469994 w 3981450"/>
                <a:gd name="connsiteY343" fmla="*/ 2306116 h 6856812"/>
                <a:gd name="connsiteX344" fmla="*/ 494605 w 3981450"/>
                <a:gd name="connsiteY344" fmla="*/ 2283101 h 6856812"/>
                <a:gd name="connsiteX345" fmla="*/ 519216 w 3981450"/>
                <a:gd name="connsiteY345" fmla="*/ 2263260 h 6856812"/>
                <a:gd name="connsiteX346" fmla="*/ 546209 w 3981450"/>
                <a:gd name="connsiteY346" fmla="*/ 2243419 h 6856812"/>
                <a:gd name="connsiteX347" fmla="*/ 572408 w 3981450"/>
                <a:gd name="connsiteY347" fmla="*/ 2224371 h 6856812"/>
                <a:gd name="connsiteX348" fmla="*/ 1540976 w 3981450"/>
                <a:gd name="connsiteY348" fmla="*/ 1537085 h 6856812"/>
                <a:gd name="connsiteX349" fmla="*/ 1556854 w 3981450"/>
                <a:gd name="connsiteY349" fmla="*/ 1527561 h 6856812"/>
                <a:gd name="connsiteX350" fmla="*/ 1573526 w 3981450"/>
                <a:gd name="connsiteY350" fmla="*/ 1517244 h 6856812"/>
                <a:gd name="connsiteX351" fmla="*/ 1590992 w 3981450"/>
                <a:gd name="connsiteY351" fmla="*/ 1509307 h 6856812"/>
                <a:gd name="connsiteX352" fmla="*/ 1608458 w 3981450"/>
                <a:gd name="connsiteY352" fmla="*/ 1502958 h 6856812"/>
                <a:gd name="connsiteX353" fmla="*/ 1635451 w 3981450"/>
                <a:gd name="connsiteY353" fmla="*/ 1491054 h 6856812"/>
                <a:gd name="connsiteX354" fmla="*/ 1663238 w 3981450"/>
                <a:gd name="connsiteY354" fmla="*/ 1479149 h 6856812"/>
                <a:gd name="connsiteX355" fmla="*/ 1691818 w 3981450"/>
                <a:gd name="connsiteY355" fmla="*/ 1469626 h 6856812"/>
                <a:gd name="connsiteX356" fmla="*/ 1719605 w 3981450"/>
                <a:gd name="connsiteY356" fmla="*/ 1460102 h 6856812"/>
                <a:gd name="connsiteX357" fmla="*/ 1748980 w 3981450"/>
                <a:gd name="connsiteY357" fmla="*/ 1452959 h 6856812"/>
                <a:gd name="connsiteX358" fmla="*/ 1779149 w 3981450"/>
                <a:gd name="connsiteY358" fmla="*/ 1446610 h 6856812"/>
                <a:gd name="connsiteX359" fmla="*/ 1807729 w 3981450"/>
                <a:gd name="connsiteY359" fmla="*/ 1441849 h 6856812"/>
                <a:gd name="connsiteX360" fmla="*/ 1837898 w 3981450"/>
                <a:gd name="connsiteY360" fmla="*/ 1437880 h 6856812"/>
                <a:gd name="connsiteX361" fmla="*/ 1868860 w 3981450"/>
                <a:gd name="connsiteY361" fmla="*/ 1435499 h 6856812"/>
                <a:gd name="connsiteX362" fmla="*/ 2433438 w 3981450"/>
                <a:gd name="connsiteY362" fmla="*/ 0 h 6856812"/>
                <a:gd name="connsiteX363" fmla="*/ 3094038 w 3981450"/>
                <a:gd name="connsiteY363" fmla="*/ 660600 h 6856812"/>
                <a:gd name="connsiteX364" fmla="*/ 2433438 w 3981450"/>
                <a:gd name="connsiteY364" fmla="*/ 1321200 h 6856812"/>
                <a:gd name="connsiteX365" fmla="*/ 1772838 w 3981450"/>
                <a:gd name="connsiteY365" fmla="*/ 660600 h 6856812"/>
                <a:gd name="connsiteX366" fmla="*/ 2433438 w 3981450"/>
                <a:gd name="connsiteY366" fmla="*/ 0 h 6856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Lst>
              <a:rect l="l" t="t" r="r" b="b"/>
              <a:pathLst>
                <a:path w="3981450" h="6856812">
                  <a:moveTo>
                    <a:pt x="1899029" y="1433912"/>
                  </a:moveTo>
                  <a:lnTo>
                    <a:pt x="1929991" y="1433912"/>
                  </a:lnTo>
                  <a:lnTo>
                    <a:pt x="1960160" y="1436293"/>
                  </a:lnTo>
                  <a:lnTo>
                    <a:pt x="1991916" y="1440261"/>
                  </a:lnTo>
                  <a:lnTo>
                    <a:pt x="2022085" y="1444229"/>
                  </a:lnTo>
                  <a:lnTo>
                    <a:pt x="2053841" y="1450579"/>
                  </a:lnTo>
                  <a:lnTo>
                    <a:pt x="2084009" y="1457721"/>
                  </a:lnTo>
                  <a:lnTo>
                    <a:pt x="2107827" y="1465658"/>
                  </a:lnTo>
                  <a:lnTo>
                    <a:pt x="2130850" y="1472800"/>
                  </a:lnTo>
                  <a:lnTo>
                    <a:pt x="2153079" y="1481530"/>
                  </a:lnTo>
                  <a:lnTo>
                    <a:pt x="2176103" y="1491054"/>
                  </a:lnTo>
                  <a:lnTo>
                    <a:pt x="2197538" y="1500577"/>
                  </a:lnTo>
                  <a:lnTo>
                    <a:pt x="2218974" y="1510895"/>
                  </a:lnTo>
                  <a:lnTo>
                    <a:pt x="2238821" y="1522006"/>
                  </a:lnTo>
                  <a:lnTo>
                    <a:pt x="2259463" y="1534704"/>
                  </a:lnTo>
                  <a:lnTo>
                    <a:pt x="2278517" y="1547402"/>
                  </a:lnTo>
                  <a:lnTo>
                    <a:pt x="2298365" y="1560100"/>
                  </a:lnTo>
                  <a:lnTo>
                    <a:pt x="2315831" y="1573592"/>
                  </a:lnTo>
                  <a:lnTo>
                    <a:pt x="2334884" y="1588671"/>
                  </a:lnTo>
                  <a:lnTo>
                    <a:pt x="2351556" y="1603750"/>
                  </a:lnTo>
                  <a:lnTo>
                    <a:pt x="2369022" y="1619622"/>
                  </a:lnTo>
                  <a:lnTo>
                    <a:pt x="2385694" y="1635495"/>
                  </a:lnTo>
                  <a:lnTo>
                    <a:pt x="2400779" y="1652161"/>
                  </a:lnTo>
                  <a:lnTo>
                    <a:pt x="2419833" y="1665653"/>
                  </a:lnTo>
                  <a:lnTo>
                    <a:pt x="2437299" y="1680732"/>
                  </a:lnTo>
                  <a:lnTo>
                    <a:pt x="2453177" y="1698986"/>
                  </a:lnTo>
                  <a:lnTo>
                    <a:pt x="2469849" y="1717239"/>
                  </a:lnTo>
                  <a:lnTo>
                    <a:pt x="3037493" y="2496588"/>
                  </a:lnTo>
                  <a:lnTo>
                    <a:pt x="3059723" y="2525159"/>
                  </a:lnTo>
                  <a:lnTo>
                    <a:pt x="3082746" y="2552142"/>
                  </a:lnTo>
                  <a:lnTo>
                    <a:pt x="3108151" y="2578332"/>
                  </a:lnTo>
                  <a:lnTo>
                    <a:pt x="3134350" y="2603728"/>
                  </a:lnTo>
                  <a:lnTo>
                    <a:pt x="3162137" y="2625950"/>
                  </a:lnTo>
                  <a:lnTo>
                    <a:pt x="3189924" y="2647378"/>
                  </a:lnTo>
                  <a:lnTo>
                    <a:pt x="3220092" y="2668806"/>
                  </a:lnTo>
                  <a:lnTo>
                    <a:pt x="3251848" y="2686267"/>
                  </a:lnTo>
                  <a:lnTo>
                    <a:pt x="3835371" y="3019593"/>
                  </a:lnTo>
                  <a:lnTo>
                    <a:pt x="3848074" y="3026735"/>
                  </a:lnTo>
                  <a:lnTo>
                    <a:pt x="3860776" y="3034672"/>
                  </a:lnTo>
                  <a:lnTo>
                    <a:pt x="3883005" y="3053719"/>
                  </a:lnTo>
                  <a:lnTo>
                    <a:pt x="3903647" y="3073560"/>
                  </a:lnTo>
                  <a:lnTo>
                    <a:pt x="3922701" y="3094988"/>
                  </a:lnTo>
                  <a:lnTo>
                    <a:pt x="3937785" y="3118003"/>
                  </a:lnTo>
                  <a:lnTo>
                    <a:pt x="3951282" y="3141812"/>
                  </a:lnTo>
                  <a:lnTo>
                    <a:pt x="3962396" y="3168002"/>
                  </a:lnTo>
                  <a:lnTo>
                    <a:pt x="3971129" y="3194192"/>
                  </a:lnTo>
                  <a:lnTo>
                    <a:pt x="3977481" y="3221176"/>
                  </a:lnTo>
                  <a:lnTo>
                    <a:pt x="3981450" y="3248953"/>
                  </a:lnTo>
                  <a:lnTo>
                    <a:pt x="3981450" y="3276730"/>
                  </a:lnTo>
                  <a:lnTo>
                    <a:pt x="3980656" y="3305301"/>
                  </a:lnTo>
                  <a:lnTo>
                    <a:pt x="3975099" y="3333078"/>
                  </a:lnTo>
                  <a:lnTo>
                    <a:pt x="3967954" y="3360855"/>
                  </a:lnTo>
                  <a:lnTo>
                    <a:pt x="3957633" y="3387045"/>
                  </a:lnTo>
                  <a:lnTo>
                    <a:pt x="3951282" y="3401331"/>
                  </a:lnTo>
                  <a:lnTo>
                    <a:pt x="3944136" y="3414822"/>
                  </a:lnTo>
                  <a:lnTo>
                    <a:pt x="3933816" y="3431489"/>
                  </a:lnTo>
                  <a:lnTo>
                    <a:pt x="3922701" y="3448155"/>
                  </a:lnTo>
                  <a:lnTo>
                    <a:pt x="3909998" y="3463234"/>
                  </a:lnTo>
                  <a:lnTo>
                    <a:pt x="3895708" y="3476726"/>
                  </a:lnTo>
                  <a:lnTo>
                    <a:pt x="3882212" y="3491011"/>
                  </a:lnTo>
                  <a:lnTo>
                    <a:pt x="3867127" y="3502122"/>
                  </a:lnTo>
                  <a:lnTo>
                    <a:pt x="3852043" y="3513233"/>
                  </a:lnTo>
                  <a:lnTo>
                    <a:pt x="3835371" y="3523550"/>
                  </a:lnTo>
                  <a:lnTo>
                    <a:pt x="3818699" y="3532280"/>
                  </a:lnTo>
                  <a:lnTo>
                    <a:pt x="3801233" y="3540216"/>
                  </a:lnTo>
                  <a:lnTo>
                    <a:pt x="3783767" y="3545772"/>
                  </a:lnTo>
                  <a:lnTo>
                    <a:pt x="3766301" y="3551327"/>
                  </a:lnTo>
                  <a:lnTo>
                    <a:pt x="3747247" y="3556089"/>
                  </a:lnTo>
                  <a:lnTo>
                    <a:pt x="3729781" y="3558470"/>
                  </a:lnTo>
                  <a:lnTo>
                    <a:pt x="3710727" y="3561644"/>
                  </a:lnTo>
                  <a:lnTo>
                    <a:pt x="3691674" y="3561644"/>
                  </a:lnTo>
                  <a:lnTo>
                    <a:pt x="3672620" y="3561644"/>
                  </a:lnTo>
                  <a:lnTo>
                    <a:pt x="3655154" y="3558470"/>
                  </a:lnTo>
                  <a:lnTo>
                    <a:pt x="3636100" y="3556089"/>
                  </a:lnTo>
                  <a:lnTo>
                    <a:pt x="3618634" y="3552121"/>
                  </a:lnTo>
                  <a:lnTo>
                    <a:pt x="3601168" y="3545772"/>
                  </a:lnTo>
                  <a:lnTo>
                    <a:pt x="3582908" y="3540216"/>
                  </a:lnTo>
                  <a:lnTo>
                    <a:pt x="3565442" y="3532280"/>
                  </a:lnTo>
                  <a:lnTo>
                    <a:pt x="3547976" y="3523550"/>
                  </a:lnTo>
                  <a:lnTo>
                    <a:pt x="2964454" y="3191811"/>
                  </a:lnTo>
                  <a:lnTo>
                    <a:pt x="2935079" y="3174351"/>
                  </a:lnTo>
                  <a:lnTo>
                    <a:pt x="2907292" y="3156891"/>
                  </a:lnTo>
                  <a:lnTo>
                    <a:pt x="2878712" y="3137844"/>
                  </a:lnTo>
                  <a:lnTo>
                    <a:pt x="2851719" y="3118797"/>
                  </a:lnTo>
                  <a:lnTo>
                    <a:pt x="2823932" y="3098956"/>
                  </a:lnTo>
                  <a:lnTo>
                    <a:pt x="2797733" y="3078321"/>
                  </a:lnTo>
                  <a:lnTo>
                    <a:pt x="2772328" y="3056893"/>
                  </a:lnTo>
                  <a:lnTo>
                    <a:pt x="2746923" y="3035465"/>
                  </a:lnTo>
                  <a:lnTo>
                    <a:pt x="2723106" y="3013244"/>
                  </a:lnTo>
                  <a:lnTo>
                    <a:pt x="2699288" y="2990228"/>
                  </a:lnTo>
                  <a:lnTo>
                    <a:pt x="2675471" y="2966419"/>
                  </a:lnTo>
                  <a:lnTo>
                    <a:pt x="2652448" y="2942610"/>
                  </a:lnTo>
                  <a:lnTo>
                    <a:pt x="2630218" y="2917214"/>
                  </a:lnTo>
                  <a:lnTo>
                    <a:pt x="2608783" y="2891024"/>
                  </a:lnTo>
                  <a:lnTo>
                    <a:pt x="2588141" y="2864040"/>
                  </a:lnTo>
                  <a:lnTo>
                    <a:pt x="2568293" y="2837851"/>
                  </a:lnTo>
                  <a:lnTo>
                    <a:pt x="2450795" y="2676743"/>
                  </a:lnTo>
                  <a:lnTo>
                    <a:pt x="2251524" y="3396569"/>
                  </a:lnTo>
                  <a:lnTo>
                    <a:pt x="2244379" y="3420378"/>
                  </a:lnTo>
                  <a:lnTo>
                    <a:pt x="2235646" y="3442599"/>
                  </a:lnTo>
                  <a:lnTo>
                    <a:pt x="2226913" y="3466408"/>
                  </a:lnTo>
                  <a:lnTo>
                    <a:pt x="2217386" y="3489424"/>
                  </a:lnTo>
                  <a:lnTo>
                    <a:pt x="2904911" y="4429880"/>
                  </a:lnTo>
                  <a:lnTo>
                    <a:pt x="2930316" y="4466387"/>
                  </a:lnTo>
                  <a:lnTo>
                    <a:pt x="2954927" y="4502894"/>
                  </a:lnTo>
                  <a:lnTo>
                    <a:pt x="2979538" y="4540195"/>
                  </a:lnTo>
                  <a:lnTo>
                    <a:pt x="3003355" y="4579877"/>
                  </a:lnTo>
                  <a:lnTo>
                    <a:pt x="3024791" y="4617177"/>
                  </a:lnTo>
                  <a:lnTo>
                    <a:pt x="3046226" y="4656065"/>
                  </a:lnTo>
                  <a:lnTo>
                    <a:pt x="3065280" y="4696541"/>
                  </a:lnTo>
                  <a:lnTo>
                    <a:pt x="3083540" y="4737016"/>
                  </a:lnTo>
                  <a:lnTo>
                    <a:pt x="3102594" y="4777491"/>
                  </a:lnTo>
                  <a:lnTo>
                    <a:pt x="3119266" y="4818760"/>
                  </a:lnTo>
                  <a:lnTo>
                    <a:pt x="3134350" y="4860823"/>
                  </a:lnTo>
                  <a:lnTo>
                    <a:pt x="3149434" y="4902092"/>
                  </a:lnTo>
                  <a:lnTo>
                    <a:pt x="3163725" y="4944948"/>
                  </a:lnTo>
                  <a:lnTo>
                    <a:pt x="3175633" y="4987804"/>
                  </a:lnTo>
                  <a:lnTo>
                    <a:pt x="3187542" y="5032248"/>
                  </a:lnTo>
                  <a:lnTo>
                    <a:pt x="3197069" y="5075104"/>
                  </a:lnTo>
                  <a:lnTo>
                    <a:pt x="3497166" y="6414758"/>
                  </a:lnTo>
                  <a:lnTo>
                    <a:pt x="3501136" y="6433012"/>
                  </a:lnTo>
                  <a:lnTo>
                    <a:pt x="3503517" y="6451265"/>
                  </a:lnTo>
                  <a:lnTo>
                    <a:pt x="3505105" y="6470313"/>
                  </a:lnTo>
                  <a:lnTo>
                    <a:pt x="3505899" y="6487773"/>
                  </a:lnTo>
                  <a:lnTo>
                    <a:pt x="3505899" y="6506820"/>
                  </a:lnTo>
                  <a:lnTo>
                    <a:pt x="3505105" y="6524280"/>
                  </a:lnTo>
                  <a:lnTo>
                    <a:pt x="3503517" y="6541740"/>
                  </a:lnTo>
                  <a:lnTo>
                    <a:pt x="3500342" y="6559200"/>
                  </a:lnTo>
                  <a:lnTo>
                    <a:pt x="3497166" y="6575866"/>
                  </a:lnTo>
                  <a:lnTo>
                    <a:pt x="3492403" y="6593326"/>
                  </a:lnTo>
                  <a:lnTo>
                    <a:pt x="3487639" y="6609992"/>
                  </a:lnTo>
                  <a:lnTo>
                    <a:pt x="3481288" y="6625865"/>
                  </a:lnTo>
                  <a:lnTo>
                    <a:pt x="3474937" y="6642531"/>
                  </a:lnTo>
                  <a:lnTo>
                    <a:pt x="3466998" y="6657610"/>
                  </a:lnTo>
                  <a:lnTo>
                    <a:pt x="3458265" y="6672689"/>
                  </a:lnTo>
                  <a:lnTo>
                    <a:pt x="3449532" y="6687768"/>
                  </a:lnTo>
                  <a:lnTo>
                    <a:pt x="3440799" y="6702847"/>
                  </a:lnTo>
                  <a:lnTo>
                    <a:pt x="3429684" y="6717133"/>
                  </a:lnTo>
                  <a:lnTo>
                    <a:pt x="3419363" y="6730624"/>
                  </a:lnTo>
                  <a:lnTo>
                    <a:pt x="3406661" y="6743323"/>
                  </a:lnTo>
                  <a:lnTo>
                    <a:pt x="3395546" y="6756021"/>
                  </a:lnTo>
                  <a:lnTo>
                    <a:pt x="3381255" y="6767132"/>
                  </a:lnTo>
                  <a:lnTo>
                    <a:pt x="3368553" y="6779036"/>
                  </a:lnTo>
                  <a:lnTo>
                    <a:pt x="3353469" y="6788560"/>
                  </a:lnTo>
                  <a:lnTo>
                    <a:pt x="3339972" y="6798877"/>
                  </a:lnTo>
                  <a:lnTo>
                    <a:pt x="3324888" y="6809194"/>
                  </a:lnTo>
                  <a:lnTo>
                    <a:pt x="3308216" y="6816337"/>
                  </a:lnTo>
                  <a:lnTo>
                    <a:pt x="3291544" y="6825067"/>
                  </a:lnTo>
                  <a:lnTo>
                    <a:pt x="3275666" y="6831416"/>
                  </a:lnTo>
                  <a:lnTo>
                    <a:pt x="3258994" y="6837765"/>
                  </a:lnTo>
                  <a:lnTo>
                    <a:pt x="3241528" y="6843320"/>
                  </a:lnTo>
                  <a:lnTo>
                    <a:pt x="3222474" y="6848082"/>
                  </a:lnTo>
                  <a:lnTo>
                    <a:pt x="3202626" y="6852050"/>
                  </a:lnTo>
                  <a:lnTo>
                    <a:pt x="3181984" y="6854431"/>
                  </a:lnTo>
                  <a:lnTo>
                    <a:pt x="3163725" y="6856812"/>
                  </a:lnTo>
                  <a:lnTo>
                    <a:pt x="3143083" y="6856812"/>
                  </a:lnTo>
                  <a:lnTo>
                    <a:pt x="3111327" y="6855225"/>
                  </a:lnTo>
                  <a:lnTo>
                    <a:pt x="3081158" y="6852050"/>
                  </a:lnTo>
                  <a:lnTo>
                    <a:pt x="3052577" y="6845701"/>
                  </a:lnTo>
                  <a:lnTo>
                    <a:pt x="3023203" y="6836971"/>
                  </a:lnTo>
                  <a:lnTo>
                    <a:pt x="2995416" y="6825067"/>
                  </a:lnTo>
                  <a:lnTo>
                    <a:pt x="2967629" y="6811575"/>
                  </a:lnTo>
                  <a:lnTo>
                    <a:pt x="2943018" y="6796496"/>
                  </a:lnTo>
                  <a:lnTo>
                    <a:pt x="2918407" y="6779036"/>
                  </a:lnTo>
                  <a:lnTo>
                    <a:pt x="2896178" y="6758402"/>
                  </a:lnTo>
                  <a:lnTo>
                    <a:pt x="2874742" y="6736974"/>
                  </a:lnTo>
                  <a:lnTo>
                    <a:pt x="2854100" y="6714752"/>
                  </a:lnTo>
                  <a:lnTo>
                    <a:pt x="2838222" y="6689356"/>
                  </a:lnTo>
                  <a:lnTo>
                    <a:pt x="2821550" y="6662372"/>
                  </a:lnTo>
                  <a:lnTo>
                    <a:pt x="2808848" y="6633801"/>
                  </a:lnTo>
                  <a:lnTo>
                    <a:pt x="2797733" y="6604437"/>
                  </a:lnTo>
                  <a:lnTo>
                    <a:pt x="2789794" y="6573485"/>
                  </a:lnTo>
                  <a:lnTo>
                    <a:pt x="2489696" y="5233831"/>
                  </a:lnTo>
                  <a:lnTo>
                    <a:pt x="2476200" y="5183038"/>
                  </a:lnTo>
                  <a:lnTo>
                    <a:pt x="2461116" y="5133039"/>
                  </a:lnTo>
                  <a:lnTo>
                    <a:pt x="2443650" y="5083834"/>
                  </a:lnTo>
                  <a:lnTo>
                    <a:pt x="2423008" y="5037010"/>
                  </a:lnTo>
                  <a:lnTo>
                    <a:pt x="2400779" y="4990185"/>
                  </a:lnTo>
                  <a:lnTo>
                    <a:pt x="2375374" y="4944155"/>
                  </a:lnTo>
                  <a:lnTo>
                    <a:pt x="2349175" y="4899711"/>
                  </a:lnTo>
                  <a:lnTo>
                    <a:pt x="2318212" y="4856855"/>
                  </a:lnTo>
                  <a:lnTo>
                    <a:pt x="1612428" y="3891796"/>
                  </a:lnTo>
                  <a:lnTo>
                    <a:pt x="1607664" y="3891796"/>
                  </a:lnTo>
                  <a:lnTo>
                    <a:pt x="1565587" y="4665589"/>
                  </a:lnTo>
                  <a:lnTo>
                    <a:pt x="1562411" y="4717175"/>
                  </a:lnTo>
                  <a:lnTo>
                    <a:pt x="1558442" y="4769555"/>
                  </a:lnTo>
                  <a:lnTo>
                    <a:pt x="1552090" y="4821141"/>
                  </a:lnTo>
                  <a:lnTo>
                    <a:pt x="1544151" y="4871934"/>
                  </a:lnTo>
                  <a:lnTo>
                    <a:pt x="1537006" y="4923520"/>
                  </a:lnTo>
                  <a:lnTo>
                    <a:pt x="1526685" y="4974313"/>
                  </a:lnTo>
                  <a:lnTo>
                    <a:pt x="1516365" y="5024312"/>
                  </a:lnTo>
                  <a:lnTo>
                    <a:pt x="1504456" y="5075104"/>
                  </a:lnTo>
                  <a:lnTo>
                    <a:pt x="1491753" y="5125103"/>
                  </a:lnTo>
                  <a:lnTo>
                    <a:pt x="1476669" y="5174308"/>
                  </a:lnTo>
                  <a:lnTo>
                    <a:pt x="1461585" y="5225101"/>
                  </a:lnTo>
                  <a:lnTo>
                    <a:pt x="1444913" y="5274306"/>
                  </a:lnTo>
                  <a:lnTo>
                    <a:pt x="1427447" y="5321924"/>
                  </a:lnTo>
                  <a:lnTo>
                    <a:pt x="1406805" y="5371130"/>
                  </a:lnTo>
                  <a:lnTo>
                    <a:pt x="1386958" y="5418748"/>
                  </a:lnTo>
                  <a:lnTo>
                    <a:pt x="1365522" y="5465572"/>
                  </a:lnTo>
                  <a:lnTo>
                    <a:pt x="1357583" y="5480651"/>
                  </a:lnTo>
                  <a:lnTo>
                    <a:pt x="739922" y="6662372"/>
                  </a:lnTo>
                  <a:lnTo>
                    <a:pt x="727220" y="6683800"/>
                  </a:lnTo>
                  <a:lnTo>
                    <a:pt x="713723" y="6705228"/>
                  </a:lnTo>
                  <a:lnTo>
                    <a:pt x="698639" y="6725863"/>
                  </a:lnTo>
                  <a:lnTo>
                    <a:pt x="681173" y="6744910"/>
                  </a:lnTo>
                  <a:lnTo>
                    <a:pt x="662913" y="6762370"/>
                  </a:lnTo>
                  <a:lnTo>
                    <a:pt x="644653" y="6779036"/>
                  </a:lnTo>
                  <a:lnTo>
                    <a:pt x="625600" y="6792528"/>
                  </a:lnTo>
                  <a:lnTo>
                    <a:pt x="604164" y="6806020"/>
                  </a:lnTo>
                  <a:lnTo>
                    <a:pt x="582729" y="6817924"/>
                  </a:lnTo>
                  <a:lnTo>
                    <a:pt x="561293" y="6827448"/>
                  </a:lnTo>
                  <a:lnTo>
                    <a:pt x="538270" y="6836971"/>
                  </a:lnTo>
                  <a:lnTo>
                    <a:pt x="516040" y="6844114"/>
                  </a:lnTo>
                  <a:lnTo>
                    <a:pt x="491429" y="6848876"/>
                  </a:lnTo>
                  <a:lnTo>
                    <a:pt x="467612" y="6852844"/>
                  </a:lnTo>
                  <a:lnTo>
                    <a:pt x="442207" y="6855225"/>
                  </a:lnTo>
                  <a:lnTo>
                    <a:pt x="418390" y="6856812"/>
                  </a:lnTo>
                  <a:lnTo>
                    <a:pt x="396954" y="6856812"/>
                  </a:lnTo>
                  <a:lnTo>
                    <a:pt x="375518" y="6854431"/>
                  </a:lnTo>
                  <a:lnTo>
                    <a:pt x="354083" y="6850463"/>
                  </a:lnTo>
                  <a:lnTo>
                    <a:pt x="334235" y="6846495"/>
                  </a:lnTo>
                  <a:lnTo>
                    <a:pt x="312800" y="6840146"/>
                  </a:lnTo>
                  <a:lnTo>
                    <a:pt x="291364" y="6833797"/>
                  </a:lnTo>
                  <a:lnTo>
                    <a:pt x="270723" y="6825067"/>
                  </a:lnTo>
                  <a:lnTo>
                    <a:pt x="250875" y="6815543"/>
                  </a:lnTo>
                  <a:lnTo>
                    <a:pt x="234203" y="6806020"/>
                  </a:lnTo>
                  <a:lnTo>
                    <a:pt x="219119" y="6796496"/>
                  </a:lnTo>
                  <a:lnTo>
                    <a:pt x="204034" y="6786179"/>
                  </a:lnTo>
                  <a:lnTo>
                    <a:pt x="188950" y="6775068"/>
                  </a:lnTo>
                  <a:lnTo>
                    <a:pt x="176248" y="6763163"/>
                  </a:lnTo>
                  <a:lnTo>
                    <a:pt x="162751" y="6751259"/>
                  </a:lnTo>
                  <a:lnTo>
                    <a:pt x="150049" y="6738561"/>
                  </a:lnTo>
                  <a:lnTo>
                    <a:pt x="138934" y="6724275"/>
                  </a:lnTo>
                  <a:lnTo>
                    <a:pt x="128613" y="6710784"/>
                  </a:lnTo>
                  <a:lnTo>
                    <a:pt x="118292" y="6696498"/>
                  </a:lnTo>
                  <a:lnTo>
                    <a:pt x="108765" y="6681419"/>
                  </a:lnTo>
                  <a:lnTo>
                    <a:pt x="99238" y="6666340"/>
                  </a:lnTo>
                  <a:lnTo>
                    <a:pt x="92093" y="6651261"/>
                  </a:lnTo>
                  <a:lnTo>
                    <a:pt x="84154" y="6635388"/>
                  </a:lnTo>
                  <a:lnTo>
                    <a:pt x="77803" y="6618722"/>
                  </a:lnTo>
                  <a:lnTo>
                    <a:pt x="73039" y="6602056"/>
                  </a:lnTo>
                  <a:lnTo>
                    <a:pt x="68276" y="6586183"/>
                  </a:lnTo>
                  <a:lnTo>
                    <a:pt x="64306" y="6569517"/>
                  </a:lnTo>
                  <a:lnTo>
                    <a:pt x="60337" y="6552057"/>
                  </a:lnTo>
                  <a:lnTo>
                    <a:pt x="57955" y="6533803"/>
                  </a:lnTo>
                  <a:lnTo>
                    <a:pt x="56367" y="6516343"/>
                  </a:lnTo>
                  <a:lnTo>
                    <a:pt x="56367" y="6500471"/>
                  </a:lnTo>
                  <a:lnTo>
                    <a:pt x="56367" y="6482217"/>
                  </a:lnTo>
                  <a:lnTo>
                    <a:pt x="56367" y="6464757"/>
                  </a:lnTo>
                  <a:lnTo>
                    <a:pt x="59543" y="6447297"/>
                  </a:lnTo>
                  <a:lnTo>
                    <a:pt x="61925" y="6429837"/>
                  </a:lnTo>
                  <a:lnTo>
                    <a:pt x="65894" y="6411584"/>
                  </a:lnTo>
                  <a:lnTo>
                    <a:pt x="70658" y="6394124"/>
                  </a:lnTo>
                  <a:lnTo>
                    <a:pt x="75421" y="6376664"/>
                  </a:lnTo>
                  <a:lnTo>
                    <a:pt x="81772" y="6359997"/>
                  </a:lnTo>
                  <a:lnTo>
                    <a:pt x="89712" y="6342538"/>
                  </a:lnTo>
                  <a:lnTo>
                    <a:pt x="96857" y="6325871"/>
                  </a:lnTo>
                  <a:lnTo>
                    <a:pt x="711342" y="5152880"/>
                  </a:lnTo>
                  <a:lnTo>
                    <a:pt x="724838" y="5121135"/>
                  </a:lnTo>
                  <a:lnTo>
                    <a:pt x="739128" y="5090183"/>
                  </a:lnTo>
                  <a:lnTo>
                    <a:pt x="751037" y="5058438"/>
                  </a:lnTo>
                  <a:lnTo>
                    <a:pt x="762946" y="5025899"/>
                  </a:lnTo>
                  <a:lnTo>
                    <a:pt x="772473" y="4994154"/>
                  </a:lnTo>
                  <a:lnTo>
                    <a:pt x="782793" y="4961615"/>
                  </a:lnTo>
                  <a:lnTo>
                    <a:pt x="793114" y="4928282"/>
                  </a:lnTo>
                  <a:lnTo>
                    <a:pt x="801847" y="4895743"/>
                  </a:lnTo>
                  <a:lnTo>
                    <a:pt x="809786" y="4863204"/>
                  </a:lnTo>
                  <a:lnTo>
                    <a:pt x="815344" y="4829078"/>
                  </a:lnTo>
                  <a:lnTo>
                    <a:pt x="821695" y="4796539"/>
                  </a:lnTo>
                  <a:lnTo>
                    <a:pt x="828046" y="4762412"/>
                  </a:lnTo>
                  <a:lnTo>
                    <a:pt x="832017" y="4728286"/>
                  </a:lnTo>
                  <a:lnTo>
                    <a:pt x="835985" y="4694160"/>
                  </a:lnTo>
                  <a:lnTo>
                    <a:pt x="839955" y="4660034"/>
                  </a:lnTo>
                  <a:lnTo>
                    <a:pt x="840749" y="4625907"/>
                  </a:lnTo>
                  <a:lnTo>
                    <a:pt x="919346" y="3193399"/>
                  </a:lnTo>
                  <a:lnTo>
                    <a:pt x="921727" y="3178319"/>
                  </a:lnTo>
                  <a:lnTo>
                    <a:pt x="924109" y="3163240"/>
                  </a:lnTo>
                  <a:lnTo>
                    <a:pt x="926491" y="3131495"/>
                  </a:lnTo>
                  <a:lnTo>
                    <a:pt x="932048" y="3098956"/>
                  </a:lnTo>
                  <a:lnTo>
                    <a:pt x="938399" y="3067211"/>
                  </a:lnTo>
                  <a:lnTo>
                    <a:pt x="945545" y="3035465"/>
                  </a:lnTo>
                  <a:lnTo>
                    <a:pt x="1071776" y="2580713"/>
                  </a:lnTo>
                  <a:lnTo>
                    <a:pt x="893941" y="2707694"/>
                  </a:lnTo>
                  <a:lnTo>
                    <a:pt x="882826" y="2715631"/>
                  </a:lnTo>
                  <a:lnTo>
                    <a:pt x="872505" y="2723567"/>
                  </a:lnTo>
                  <a:lnTo>
                    <a:pt x="863772" y="2733091"/>
                  </a:lnTo>
                  <a:lnTo>
                    <a:pt x="855833" y="2743408"/>
                  </a:lnTo>
                  <a:lnTo>
                    <a:pt x="848688" y="2753725"/>
                  </a:lnTo>
                  <a:lnTo>
                    <a:pt x="842337" y="2764836"/>
                  </a:lnTo>
                  <a:lnTo>
                    <a:pt x="836779" y="2777534"/>
                  </a:lnTo>
                  <a:lnTo>
                    <a:pt x="833604" y="2790233"/>
                  </a:lnTo>
                  <a:lnTo>
                    <a:pt x="570026" y="3772751"/>
                  </a:lnTo>
                  <a:lnTo>
                    <a:pt x="562087" y="3796560"/>
                  </a:lnTo>
                  <a:lnTo>
                    <a:pt x="553354" y="3819575"/>
                  </a:lnTo>
                  <a:lnTo>
                    <a:pt x="542239" y="3841004"/>
                  </a:lnTo>
                  <a:lnTo>
                    <a:pt x="529537" y="3860844"/>
                  </a:lnTo>
                  <a:lnTo>
                    <a:pt x="516040" y="3879892"/>
                  </a:lnTo>
                  <a:lnTo>
                    <a:pt x="500162" y="3898145"/>
                  </a:lnTo>
                  <a:lnTo>
                    <a:pt x="482696" y="3914018"/>
                  </a:lnTo>
                  <a:lnTo>
                    <a:pt x="465230" y="3929097"/>
                  </a:lnTo>
                  <a:lnTo>
                    <a:pt x="446176" y="3943382"/>
                  </a:lnTo>
                  <a:lnTo>
                    <a:pt x="426329" y="3954493"/>
                  </a:lnTo>
                  <a:lnTo>
                    <a:pt x="404893" y="3964810"/>
                  </a:lnTo>
                  <a:lnTo>
                    <a:pt x="383458" y="3973540"/>
                  </a:lnTo>
                  <a:lnTo>
                    <a:pt x="360434" y="3979889"/>
                  </a:lnTo>
                  <a:lnTo>
                    <a:pt x="338205" y="3984651"/>
                  </a:lnTo>
                  <a:lnTo>
                    <a:pt x="313594" y="3987032"/>
                  </a:lnTo>
                  <a:lnTo>
                    <a:pt x="289776" y="3988619"/>
                  </a:lnTo>
                  <a:lnTo>
                    <a:pt x="270723" y="3987032"/>
                  </a:lnTo>
                  <a:lnTo>
                    <a:pt x="252463" y="3986239"/>
                  </a:lnTo>
                  <a:lnTo>
                    <a:pt x="233409" y="3982270"/>
                  </a:lnTo>
                  <a:lnTo>
                    <a:pt x="214355" y="3978302"/>
                  </a:lnTo>
                  <a:lnTo>
                    <a:pt x="200859" y="3974334"/>
                  </a:lnTo>
                  <a:lnTo>
                    <a:pt x="186568" y="3969572"/>
                  </a:lnTo>
                  <a:lnTo>
                    <a:pt x="160369" y="3956874"/>
                  </a:lnTo>
                  <a:lnTo>
                    <a:pt x="134964" y="3943382"/>
                  </a:lnTo>
                  <a:lnTo>
                    <a:pt x="111941" y="3926716"/>
                  </a:lnTo>
                  <a:lnTo>
                    <a:pt x="90505" y="3909256"/>
                  </a:lnTo>
                  <a:lnTo>
                    <a:pt x="70658" y="3888622"/>
                  </a:lnTo>
                  <a:lnTo>
                    <a:pt x="53986" y="3866400"/>
                  </a:lnTo>
                  <a:lnTo>
                    <a:pt x="38901" y="3843384"/>
                  </a:lnTo>
                  <a:lnTo>
                    <a:pt x="26199" y="3817988"/>
                  </a:lnTo>
                  <a:lnTo>
                    <a:pt x="15084" y="3793386"/>
                  </a:lnTo>
                  <a:lnTo>
                    <a:pt x="7939" y="3765608"/>
                  </a:lnTo>
                  <a:lnTo>
                    <a:pt x="2382" y="3737831"/>
                  </a:lnTo>
                  <a:lnTo>
                    <a:pt x="0" y="3710054"/>
                  </a:lnTo>
                  <a:lnTo>
                    <a:pt x="0" y="3680690"/>
                  </a:lnTo>
                  <a:lnTo>
                    <a:pt x="3969" y="3652119"/>
                  </a:lnTo>
                  <a:lnTo>
                    <a:pt x="6351" y="3637833"/>
                  </a:lnTo>
                  <a:lnTo>
                    <a:pt x="10321" y="3622754"/>
                  </a:lnTo>
                  <a:lnTo>
                    <a:pt x="272310" y="2640236"/>
                  </a:lnTo>
                  <a:lnTo>
                    <a:pt x="282631" y="2606903"/>
                  </a:lnTo>
                  <a:lnTo>
                    <a:pt x="292158" y="2576745"/>
                  </a:lnTo>
                  <a:lnTo>
                    <a:pt x="304861" y="2545793"/>
                  </a:lnTo>
                  <a:lnTo>
                    <a:pt x="319151" y="2516429"/>
                  </a:lnTo>
                  <a:lnTo>
                    <a:pt x="332647" y="2487858"/>
                  </a:lnTo>
                  <a:lnTo>
                    <a:pt x="349320" y="2458493"/>
                  </a:lnTo>
                  <a:lnTo>
                    <a:pt x="366785" y="2430716"/>
                  </a:lnTo>
                  <a:lnTo>
                    <a:pt x="384251" y="2404526"/>
                  </a:lnTo>
                  <a:lnTo>
                    <a:pt x="404893" y="2377543"/>
                  </a:lnTo>
                  <a:lnTo>
                    <a:pt x="424741" y="2352940"/>
                  </a:lnTo>
                  <a:lnTo>
                    <a:pt x="447764" y="2329131"/>
                  </a:lnTo>
                  <a:lnTo>
                    <a:pt x="469994" y="2306116"/>
                  </a:lnTo>
                  <a:lnTo>
                    <a:pt x="494605" y="2283101"/>
                  </a:lnTo>
                  <a:lnTo>
                    <a:pt x="519216" y="2263260"/>
                  </a:lnTo>
                  <a:lnTo>
                    <a:pt x="546209" y="2243419"/>
                  </a:lnTo>
                  <a:lnTo>
                    <a:pt x="572408" y="2224371"/>
                  </a:lnTo>
                  <a:lnTo>
                    <a:pt x="1540976" y="1537085"/>
                  </a:lnTo>
                  <a:lnTo>
                    <a:pt x="1556854" y="1527561"/>
                  </a:lnTo>
                  <a:lnTo>
                    <a:pt x="1573526" y="1517244"/>
                  </a:lnTo>
                  <a:lnTo>
                    <a:pt x="1590992" y="1509307"/>
                  </a:lnTo>
                  <a:lnTo>
                    <a:pt x="1608458" y="1502958"/>
                  </a:lnTo>
                  <a:lnTo>
                    <a:pt x="1635451" y="1491054"/>
                  </a:lnTo>
                  <a:lnTo>
                    <a:pt x="1663238" y="1479149"/>
                  </a:lnTo>
                  <a:lnTo>
                    <a:pt x="1691818" y="1469626"/>
                  </a:lnTo>
                  <a:lnTo>
                    <a:pt x="1719605" y="1460102"/>
                  </a:lnTo>
                  <a:lnTo>
                    <a:pt x="1748980" y="1452959"/>
                  </a:lnTo>
                  <a:lnTo>
                    <a:pt x="1779149" y="1446610"/>
                  </a:lnTo>
                  <a:lnTo>
                    <a:pt x="1807729" y="1441849"/>
                  </a:lnTo>
                  <a:lnTo>
                    <a:pt x="1837898" y="1437880"/>
                  </a:lnTo>
                  <a:lnTo>
                    <a:pt x="1868860" y="1435499"/>
                  </a:lnTo>
                  <a:close/>
                  <a:moveTo>
                    <a:pt x="2433438" y="0"/>
                  </a:moveTo>
                  <a:cubicBezTo>
                    <a:pt x="2798277" y="0"/>
                    <a:pt x="3094038" y="295761"/>
                    <a:pt x="3094038" y="660600"/>
                  </a:cubicBezTo>
                  <a:cubicBezTo>
                    <a:pt x="3094038" y="1025439"/>
                    <a:pt x="2798277" y="1321200"/>
                    <a:pt x="2433438" y="1321200"/>
                  </a:cubicBezTo>
                  <a:cubicBezTo>
                    <a:pt x="2068599" y="1321200"/>
                    <a:pt x="1772838" y="1025439"/>
                    <a:pt x="1772838" y="660600"/>
                  </a:cubicBezTo>
                  <a:cubicBezTo>
                    <a:pt x="1772838" y="295761"/>
                    <a:pt x="2068599" y="0"/>
                    <a:pt x="2433438" y="0"/>
                  </a:cubicBezTo>
                  <a:close/>
                </a:path>
              </a:pathLst>
            </a:custGeom>
            <a:solidFill>
              <a:srgbClr val="E9C2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2" name="文本框 1"/>
          <p:cNvSpPr txBox="1"/>
          <p:nvPr/>
        </p:nvSpPr>
        <p:spPr>
          <a:xfrm>
            <a:off x="10189210" y="3288030"/>
            <a:ext cx="4064000" cy="368300"/>
          </a:xfrm>
          <a:prstGeom prst="rect">
            <a:avLst/>
          </a:prstGeom>
          <a:noFill/>
        </p:spPr>
        <p:txBody>
          <a:bodyPr wrap="square" rtlCol="0">
            <a:spAutoFit/>
          </a:bodyPr>
          <a:p>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750"/>
                            </p:stCondLst>
                            <p:childTnLst>
                              <p:par>
                                <p:cTn id="12" presetID="53" presetClass="entr" presetSubtype="16" fill="hold" nodeType="after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childTnLst>
                          </p:cTn>
                        </p:par>
                        <p:par>
                          <p:cTn id="17" fill="hold">
                            <p:stCondLst>
                              <p:cond delay="1250"/>
                            </p:stCondLst>
                            <p:childTnLst>
                              <p:par>
                                <p:cTn id="18" presetID="2" presetClass="entr" presetSubtype="2"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additive="base">
                                        <p:cTn id="20" dur="700" fill="hold"/>
                                        <p:tgtEl>
                                          <p:spTgt spid="14"/>
                                        </p:tgtEl>
                                        <p:attrNameLst>
                                          <p:attrName>ppt_x</p:attrName>
                                        </p:attrNameLst>
                                      </p:cBhvr>
                                      <p:tavLst>
                                        <p:tav tm="0">
                                          <p:val>
                                            <p:strVal val="1+#ppt_w/2"/>
                                          </p:val>
                                        </p:tav>
                                        <p:tav tm="100000">
                                          <p:val>
                                            <p:strVal val="#ppt_x"/>
                                          </p:val>
                                        </p:tav>
                                      </p:tavLst>
                                    </p:anim>
                                    <p:anim calcmode="lin" valueType="num">
                                      <p:cBhvr additive="base">
                                        <p:cTn id="21" dur="7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37363" y="1292856"/>
            <a:ext cx="3310255" cy="583565"/>
          </a:xfrm>
          <a:prstGeom prst="rect">
            <a:avLst/>
          </a:prstGeom>
          <a:noFill/>
        </p:spPr>
        <p:txBody>
          <a:bodyPr wrap="none" rtlCol="0" anchor="ctr">
            <a:spAutoFit/>
          </a:bodyPr>
          <a:lstStyle/>
          <a:p>
            <a:pPr algn="ctr"/>
            <a:r>
              <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 boot框架</a:t>
            </a:r>
            <a:endPar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0" name="矩形 19"/>
          <p:cNvSpPr/>
          <p:nvPr/>
        </p:nvSpPr>
        <p:spPr>
          <a:xfrm>
            <a:off x="895350" y="2880360"/>
            <a:ext cx="10818495" cy="3380740"/>
          </a:xfrm>
          <a:prstGeom prst="rect">
            <a:avLst/>
          </a:prstGeom>
        </p:spPr>
        <p:txBody>
          <a:bodyPr wrap="square">
            <a:noAutofit/>
          </a:bodyPr>
          <a:lstStyle/>
          <a:p>
            <a:pPr algn="just">
              <a:lnSpc>
                <a:spcPct val="150000"/>
              </a:lnSpc>
              <a:spcAft>
                <a:spcPts val="1200"/>
              </a:spcAft>
              <a:buClr>
                <a:schemeClr val="accent2"/>
              </a:buClr>
            </a:pPr>
            <a:r>
              <a:rPr lang="zh-CN" altLang="en-US" sz="1400" dirty="0">
                <a:solidFill>
                  <a:schemeClr val="bg1">
                    <a:lumMod val="65000"/>
                  </a:schemeClr>
                </a:solidFill>
                <a:latin typeface="微软雅黑" panose="020B0503020204020204" pitchFamily="34" charset="-122"/>
                <a:ea typeface="微软雅黑" panose="020B0503020204020204" pitchFamily="34" charset="-122"/>
              </a:rPr>
              <a:t> </a:t>
            </a:r>
            <a:r>
              <a:rPr lang="zh-CN" altLang="en-US" dirty="0">
                <a:solidFill>
                  <a:schemeClr val="bg1">
                    <a:lumMod val="65000"/>
                  </a:schemeClr>
                </a:solidFill>
                <a:latin typeface="微软雅黑" panose="020B0503020204020204" pitchFamily="34" charset="-122"/>
                <a:ea typeface="微软雅黑" panose="020B0503020204020204" pitchFamily="34" charset="-122"/>
              </a:rPr>
              <a:t>Spring Boot的开发团队来自美国的Pivotal公司，是2013年研发的免费、轻量级、开源的系统框架。它集合、默认了许多框架的使用方法，是基于原有的框架的功能的又一次进化，所以从这个角度看，它就又是一个旧的框架。</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a:p>
            <a:pPr algn="just">
              <a:lnSpc>
                <a:spcPct val="150000"/>
              </a:lnSpc>
              <a:spcAft>
                <a:spcPts val="1200"/>
              </a:spcAft>
              <a:buClr>
                <a:schemeClr val="accent2"/>
              </a:buClr>
            </a:pPr>
            <a:r>
              <a:rPr lang="zh-CN" altLang="en-US" dirty="0">
                <a:solidFill>
                  <a:schemeClr val="bg1">
                    <a:lumMod val="65000"/>
                  </a:schemeClr>
                </a:solidFill>
                <a:latin typeface="微软雅黑" panose="020B0503020204020204" pitchFamily="34" charset="-122"/>
                <a:ea typeface="微软雅黑" panose="020B0503020204020204" pitchFamily="34" charset="-122"/>
              </a:rPr>
              <a:t>Spring boot有以下几个特点：低嵌入式设计，代码污染性低；不是只局限于Spring，开发者可以随意的选择Spring框架的任意几个部分；使程序的测试变得更加简单与方便；没有独立的Web服务器需要，所以不再需要启动Tomcat，Glass Fish。</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27" name="直接连接符 26"/>
          <p:cNvCxnSpPr/>
          <p:nvPr/>
        </p:nvCxnSpPr>
        <p:spPr>
          <a:xfrm>
            <a:off x="4277603" y="2470025"/>
            <a:ext cx="0" cy="226695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126431" y="2470025"/>
            <a:ext cx="0" cy="226695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750"/>
                            </p:stCondLst>
                            <p:childTnLst>
                              <p:par>
                                <p:cTn id="9" presetID="16" presetClass="entr" presetSubtype="42"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arn(outHorizontal)">
                                      <p:cBhvr>
                                        <p:cTn id="11" dur="500"/>
                                        <p:tgtEl>
                                          <p:spTgt spid="27"/>
                                        </p:tgtEl>
                                      </p:cBhvr>
                                    </p:animEffect>
                                  </p:childTnLst>
                                </p:cTn>
                              </p:par>
                            </p:childTnLst>
                          </p:cTn>
                        </p:par>
                        <p:par>
                          <p:cTn id="12" fill="hold">
                            <p:stCondLst>
                              <p:cond delay="1250"/>
                            </p:stCondLst>
                            <p:childTnLst>
                              <p:par>
                                <p:cTn id="13" presetID="16" presetClass="entr" presetSubtype="42"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barn(outHorizontal)">
                                      <p:cBhvr>
                                        <p:cTn id="15" dur="500"/>
                                        <p:tgtEl>
                                          <p:spTgt spid="28"/>
                                        </p:tgtEl>
                                      </p:cBhvr>
                                    </p:animEffect>
                                  </p:childTnLst>
                                </p:cTn>
                              </p:par>
                            </p:childTnLst>
                          </p:cTn>
                        </p:par>
                        <p:par>
                          <p:cTn id="16" fill="hold">
                            <p:stCondLst>
                              <p:cond delay="1750"/>
                            </p:stCondLst>
                            <p:childTnLst>
                              <p:par>
                                <p:cTn id="17" presetID="10" presetClass="entr" presetSubtype="0"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screen">
            <a:duotone>
              <a:schemeClr val="accent2">
                <a:shade val="45000"/>
                <a:satMod val="135000"/>
              </a:schemeClr>
              <a:prstClr val="white"/>
            </a:duotone>
          </a:blip>
          <a:srcRect/>
          <a:stretch>
            <a:fillRect/>
          </a:stretch>
        </p:blipFill>
        <p:spPr>
          <a:xfrm rot="19867563">
            <a:off x="3088218" y="1555886"/>
            <a:ext cx="4521645" cy="2201845"/>
          </a:xfrm>
          <a:prstGeom prst="rect">
            <a:avLst/>
          </a:prstGeom>
        </p:spPr>
      </p:pic>
      <p:pic>
        <p:nvPicPr>
          <p:cNvPr id="6" name="图片 5"/>
          <p:cNvPicPr>
            <a:picLocks noChangeAspect="1"/>
          </p:cNvPicPr>
          <p:nvPr/>
        </p:nvPicPr>
        <p:blipFill rotWithShape="1">
          <a:blip r:embed="rId2" cstate="screen">
            <a:duotone>
              <a:schemeClr val="accent2">
                <a:shade val="45000"/>
                <a:satMod val="135000"/>
              </a:schemeClr>
              <a:prstClr val="white"/>
            </a:duotone>
          </a:blip>
          <a:srcRect/>
          <a:stretch>
            <a:fillRect/>
          </a:stretch>
        </p:blipFill>
        <p:spPr>
          <a:xfrm>
            <a:off x="3854909" y="3744652"/>
            <a:ext cx="2021203" cy="864491"/>
          </a:xfrm>
          <a:prstGeom prst="rect">
            <a:avLst/>
          </a:prstGeom>
        </p:spPr>
      </p:pic>
      <p:sp>
        <p:nvSpPr>
          <p:cNvPr id="10" name="TextBox 18"/>
          <p:cNvSpPr txBox="1"/>
          <p:nvPr/>
        </p:nvSpPr>
        <p:spPr>
          <a:xfrm>
            <a:off x="5782310" y="3047365"/>
            <a:ext cx="6409690" cy="1322070"/>
          </a:xfrm>
          <a:prstGeom prst="rect">
            <a:avLst/>
          </a:prstGeom>
          <a:noFill/>
        </p:spPr>
        <p:txBody>
          <a:bodyPr wrap="square" rtlCol="0">
            <a:spAutoFit/>
          </a:bodyPr>
          <a:lstStyle/>
          <a:p>
            <a:pPr>
              <a:lnSpc>
                <a:spcPct val="100000"/>
              </a:lnSpc>
              <a:spcBef>
                <a:spcPct val="0"/>
              </a:spcBef>
              <a:buNone/>
            </a:pPr>
            <a:r>
              <a:rPr lang="en-US" altLang="zh-CN" sz="2000" b="1" dirty="0">
                <a:solidFill>
                  <a:srgbClr val="E9C2A8"/>
                </a:solidFill>
                <a:latin typeface="Agency FB" panose="020B0503020202020204" pitchFamily="34" charset="0"/>
                <a:ea typeface="微软雅黑" panose="020B0503020204020204" pitchFamily="34" charset="-122"/>
                <a:sym typeface="+mn-ea"/>
              </a:rPr>
              <a:t>Vue.js是一套构建用户界面的渐进式框架，是一个基于MVVM模式的 JavaScript库。Vue.js采用了自底向上的增量式开发的设计。Vue.js 的显著特性有：轻量级的框架、双向数据绑定、指令、插件化。</a:t>
            </a:r>
            <a:endParaRPr lang="en-US" altLang="zh-CN" sz="2000" b="1" dirty="0">
              <a:solidFill>
                <a:srgbClr val="E9C2A8"/>
              </a:solidFill>
              <a:latin typeface="Agency FB" panose="020B0503020202020204" pitchFamily="34" charset="0"/>
              <a:ea typeface="微软雅黑" panose="020B0503020204020204" pitchFamily="34" charset="-122"/>
              <a:sym typeface="+mn-ea"/>
            </a:endParaRPr>
          </a:p>
        </p:txBody>
      </p:sp>
      <p:pic>
        <p:nvPicPr>
          <p:cNvPr id="12" name="Picture 2"/>
          <p:cNvPicPr>
            <a:picLocks noChangeAspect="1" noChangeArrowheads="1"/>
          </p:cNvPicPr>
          <p:nvPr/>
        </p:nvPicPr>
        <p:blipFill>
          <a:blip r:embed="rId3" cstate="screen"/>
          <a:stretch>
            <a:fillRect/>
          </a:stretch>
        </p:blipFill>
        <p:spPr bwMode="auto">
          <a:xfrm flipH="1">
            <a:off x="492485" y="3218075"/>
            <a:ext cx="3237573" cy="2888720"/>
          </a:xfrm>
          <a:prstGeom prst="rect">
            <a:avLst/>
          </a:prstGeom>
          <a:noFill/>
          <a:effectLst>
            <a:outerShdw blurRad="177800" dir="5400000" sx="107000" sy="107000" algn="t" rotWithShape="0">
              <a:prstClr val="black">
                <a:alpha val="15000"/>
              </a:prstClr>
            </a:outerShdw>
          </a:effectLst>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6150610" y="4798060"/>
            <a:ext cx="4064000" cy="368300"/>
          </a:xfrm>
          <a:prstGeom prst="rect">
            <a:avLst/>
          </a:prstGeom>
          <a:noFill/>
        </p:spPr>
        <p:txBody>
          <a:bodyPr wrap="square" rtlCol="0">
            <a:spAutoFit/>
          </a:bodyPr>
          <a:p>
            <a:endParaRPr lang="zh-CN" altLang="en-US"/>
          </a:p>
        </p:txBody>
      </p:sp>
      <p:sp>
        <p:nvSpPr>
          <p:cNvPr id="9" name="文本框 8"/>
          <p:cNvSpPr txBox="1"/>
          <p:nvPr>
            <p:custDataLst>
              <p:tags r:id="rId4"/>
            </p:custDataLst>
          </p:nvPr>
        </p:nvSpPr>
        <p:spPr>
          <a:xfrm>
            <a:off x="8082915" y="1580515"/>
            <a:ext cx="1808480" cy="505460"/>
          </a:xfrm>
          <a:prstGeom prst="rect">
            <a:avLst/>
          </a:prstGeom>
          <a:noFill/>
        </p:spPr>
        <p:txBody>
          <a:bodyPr wrap="none" rtlCol="0" anchor="ctr">
            <a:noAutofit/>
          </a:bodyPr>
          <a:p>
            <a:pPr algn="ctr"/>
            <a:r>
              <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Vue框架</a:t>
            </a:r>
            <a:endPar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250"/>
                                        <p:tgtEl>
                                          <p:spTgt spid="12"/>
                                        </p:tgtEl>
                                      </p:cBhvr>
                                    </p:animEffect>
                                    <p:anim calcmode="lin" valueType="num">
                                      <p:cBhvr>
                                        <p:cTn id="8" dur="1250" fill="hold"/>
                                        <p:tgtEl>
                                          <p:spTgt spid="12"/>
                                        </p:tgtEl>
                                        <p:attrNameLst>
                                          <p:attrName>ppt_x</p:attrName>
                                        </p:attrNameLst>
                                      </p:cBhvr>
                                      <p:tavLst>
                                        <p:tav tm="0">
                                          <p:val>
                                            <p:strVal val="#ppt_x"/>
                                          </p:val>
                                        </p:tav>
                                        <p:tav tm="100000">
                                          <p:val>
                                            <p:strVal val="#ppt_x"/>
                                          </p:val>
                                        </p:tav>
                                      </p:tavLst>
                                    </p:anim>
                                    <p:anim calcmode="lin" valueType="num">
                                      <p:cBhvr>
                                        <p:cTn id="9" dur="125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53" presetClass="entr" presetSubtype="16"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par>
                                <p:cTn id="22" presetID="53" presetClass="entr" presetSubtype="16" fill="hold" grpId="0" nodeType="with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 calcmode="lin" valueType="num">
                                      <p:cBhvr>
                                        <p:cTn id="24" dur="1250" fill="hold"/>
                                        <p:tgtEl>
                                          <p:spTgt spid="10">
                                            <p:txEl>
                                              <p:pRg st="0" end="0"/>
                                            </p:txEl>
                                          </p:spTgt>
                                        </p:tgtEl>
                                        <p:attrNameLst>
                                          <p:attrName>ppt_w</p:attrName>
                                        </p:attrNameLst>
                                      </p:cBhvr>
                                      <p:tavLst>
                                        <p:tav tm="0">
                                          <p:val>
                                            <p:fltVal val="0"/>
                                          </p:val>
                                        </p:tav>
                                        <p:tav tm="100000">
                                          <p:val>
                                            <p:strVal val="#ppt_w"/>
                                          </p:val>
                                        </p:tav>
                                      </p:tavLst>
                                    </p:anim>
                                    <p:anim calcmode="lin" valueType="num">
                                      <p:cBhvr>
                                        <p:cTn id="25" dur="125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26" dur="1250"/>
                                        <p:tgtEl>
                                          <p:spTgt spid="10">
                                            <p:txEl>
                                              <p:pRg st="0" end="0"/>
                                            </p:txEl>
                                          </p:spTgt>
                                        </p:tgtEl>
                                      </p:cBhvr>
                                    </p:animEffect>
                                  </p:childTnLst>
                                </p:cTn>
                              </p:par>
                              <p:par>
                                <p:cTn id="27" presetID="10" presetClass="entr" presetSubtype="0" fill="hold" grpId="0" nodeType="withEffect">
                                  <p:stCondLst>
                                    <p:cond delay="25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350012" y="1057271"/>
            <a:ext cx="2808605" cy="583565"/>
          </a:xfrm>
          <a:prstGeom prst="rect">
            <a:avLst/>
          </a:prstGeom>
          <a:noFill/>
        </p:spPr>
        <p:txBody>
          <a:bodyPr wrap="none" rtlCol="0" anchor="ctr">
            <a:spAutoFit/>
          </a:bodyPr>
          <a:lstStyle/>
          <a:p>
            <a:pPr algn="ctr"/>
            <a:r>
              <a:rPr lang="en-US" altLang="zh-CN"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Tomcat服务器</a:t>
            </a:r>
            <a:endParaRPr lang="en-US" altLang="zh-CN"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5" name="Rectangle 5"/>
          <p:cNvSpPr/>
          <p:nvPr/>
        </p:nvSpPr>
        <p:spPr bwMode="auto">
          <a:xfrm>
            <a:off x="1369695" y="5308600"/>
            <a:ext cx="444944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endParaRPr lang="en-US" altLang="zh-CN" sz="1000" dirty="0">
              <a:solidFill>
                <a:schemeClr val="bg1">
                  <a:lumMod val="65000"/>
                </a:schemeClr>
              </a:solidFill>
              <a:latin typeface="微软雅黑" panose="020B0503020204020204" pitchFamily="34" charset="-122"/>
              <a:ea typeface="微软雅黑" panose="020B0503020204020204" pitchFamily="34" charset="-122"/>
              <a:sym typeface="Gill Sans" charset="0"/>
            </a:endParaRPr>
          </a:p>
        </p:txBody>
      </p:sp>
      <p:sp>
        <p:nvSpPr>
          <p:cNvPr id="21" name="Rectangle 5"/>
          <p:cNvSpPr/>
          <p:nvPr/>
        </p:nvSpPr>
        <p:spPr bwMode="auto">
          <a:xfrm>
            <a:off x="117475" y="2277110"/>
            <a:ext cx="11944985" cy="458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endParaRPr lang="zh-CN" altLang="en-US" sz="1600" dirty="0">
              <a:solidFill>
                <a:schemeClr val="bg1">
                  <a:lumMod val="65000"/>
                </a:schemeClr>
              </a:solidFill>
              <a:latin typeface="微软雅黑" panose="020B0503020204020204" pitchFamily="34" charset="-122"/>
              <a:ea typeface="微软雅黑" panose="020B0503020204020204" pitchFamily="34" charset="-122"/>
              <a:sym typeface="Gill Sans" charset="0"/>
            </a:endParaRPr>
          </a:p>
        </p:txBody>
      </p:sp>
      <p:sp>
        <p:nvSpPr>
          <p:cNvPr id="100" name="文本框 99"/>
          <p:cNvSpPr txBox="1"/>
          <p:nvPr/>
        </p:nvSpPr>
        <p:spPr>
          <a:xfrm>
            <a:off x="961390" y="1998345"/>
            <a:ext cx="10749280" cy="4119245"/>
          </a:xfrm>
          <a:prstGeom prst="rect">
            <a:avLst/>
          </a:prstGeom>
          <a:noFill/>
          <a:ln w="9525">
            <a:noFill/>
          </a:ln>
        </p:spPr>
        <p:txBody>
          <a:bodyPr>
            <a:noAutofit/>
          </a:bodyPr>
          <a:p>
            <a:pPr indent="304800"/>
            <a:r>
              <a:rPr sz="2400" b="0">
                <a:solidFill>
                  <a:srgbClr val="000000"/>
                </a:solidFill>
              </a:rPr>
              <a:t>Tomcat服务器是一个开源的Web应用服务器，稳定而先进，非常受开发人员的欢迎，是主流的Web应用服务器之一。因为它占用较少的系统资源，具有良好的可扩展性，支持负载平衡和邮件服务，以及开发应用程序系统的其他常见功能。</a:t>
            </a:r>
            <a:endParaRPr sz="2400" b="0">
              <a:solidFill>
                <a:srgbClr val="000000"/>
              </a:solidFill>
            </a:endParaRPr>
          </a:p>
          <a:p>
            <a:pPr indent="304800"/>
            <a:r>
              <a:rPr sz="2400" b="0">
                <a:solidFill>
                  <a:srgbClr val="000000"/>
                </a:solidFill>
              </a:rPr>
              <a:t>Tomcat属于轻量级应用服务器，主要应用于小规模系统和低并发性要求的软件应用。同时，新版本的servlet和JAVA规范总是可以在Tomcat服务器中完美呈现，因此，它已经成为开发和调试JAVA程序的最佳选择。</a:t>
            </a:r>
            <a:endParaRPr sz="2400" b="0">
              <a:solidFill>
                <a:srgbClr val="000000"/>
              </a:solidFill>
            </a:endParaRPr>
          </a:p>
          <a:p>
            <a:pPr indent="304800"/>
            <a:r>
              <a:rPr sz="2400" b="0">
                <a:solidFill>
                  <a:srgbClr val="000000"/>
                </a:solidFill>
              </a:rPr>
              <a:t>Tomcat服务器可以处理HTML页面。但是，由于Tomcat服务器不如Apache能够优秀地处理静态HTML，因此它们经常一起配合使用。一旦完成了精确的配置，Apache就为HTML页面提供服务。于是Tomcat可以顺利地执行JAVA和servlet。</a:t>
            </a:r>
            <a:endParaRPr sz="2400" b="0">
              <a:solidFill>
                <a:srgbClr val="0000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469890" y="1252220"/>
            <a:ext cx="5537835" cy="645160"/>
          </a:xfrm>
          <a:prstGeom prst="rect">
            <a:avLst/>
          </a:prstGeom>
          <a:effectLst/>
        </p:spPr>
        <p:txBody>
          <a:bodyPr vert="horz" wrap="square">
            <a:spAutoFit/>
          </a:bodyPr>
          <a:lstStyle/>
          <a:p>
            <a:pPr algn="l"/>
            <a:r>
              <a:rPr lang="zh-CN" altLang="en-US" sz="3600" b="1" dirty="0">
                <a:solidFill>
                  <a:srgbClr val="52ACA4"/>
                </a:solidFill>
                <a:latin typeface="微软雅黑" panose="020B0503020204020204" pitchFamily="34" charset="-122"/>
                <a:ea typeface="微软雅黑" panose="020B0503020204020204" pitchFamily="34" charset="-122"/>
              </a:rPr>
              <a:t>MySQL数据库</a:t>
            </a:r>
            <a:endParaRPr lang="zh-CN" altLang="en-US" sz="3600" b="1" dirty="0">
              <a:solidFill>
                <a:srgbClr val="52ACA4"/>
              </a:solidFill>
              <a:latin typeface="微软雅黑" panose="020B0503020204020204" pitchFamily="34" charset="-122"/>
              <a:ea typeface="微软雅黑" panose="020B0503020204020204" pitchFamily="34" charset="-122"/>
            </a:endParaRPr>
          </a:p>
        </p:txBody>
      </p:sp>
      <p:sp>
        <p:nvSpPr>
          <p:cNvPr id="9" name="TextBox 17"/>
          <p:cNvSpPr txBox="1"/>
          <p:nvPr/>
        </p:nvSpPr>
        <p:spPr>
          <a:xfrm>
            <a:off x="5815209" y="3434679"/>
            <a:ext cx="4465259" cy="275590"/>
          </a:xfrm>
          <a:prstGeom prst="rect">
            <a:avLst/>
          </a:prstGeom>
          <a:noFill/>
        </p:spPr>
        <p:txBody>
          <a:bodyPr vert="horz" wrap="square" rtlCol="0">
            <a:spAutoFit/>
          </a:bodyPr>
          <a:lstStyle/>
          <a:p>
            <a:pPr>
              <a:lnSpc>
                <a:spcPct val="150000"/>
              </a:lnSpc>
            </a:pPr>
            <a:endParaRPr lang="zh-CN" altLang="en-US" sz="8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0" name="TextBox 18"/>
          <p:cNvSpPr txBox="1"/>
          <p:nvPr/>
        </p:nvSpPr>
        <p:spPr>
          <a:xfrm>
            <a:off x="4286250" y="1958340"/>
            <a:ext cx="7660005" cy="4557395"/>
          </a:xfrm>
          <a:prstGeom prst="rect">
            <a:avLst/>
          </a:prstGeom>
          <a:noFill/>
        </p:spPr>
        <p:txBody>
          <a:bodyPr wrap="square" rtlCol="0">
            <a:noAutofit/>
          </a:bodyPr>
          <a:lstStyle/>
          <a:p>
            <a:r>
              <a:rPr lang="zh-CN" altLang="en-US" b="1" dirty="0">
                <a:solidFill>
                  <a:srgbClr val="E9C2A8"/>
                </a:solidFill>
                <a:latin typeface="微软雅黑" panose="020B0503020204020204" pitchFamily="34" charset="-122"/>
                <a:ea typeface="微软雅黑" panose="020B0503020204020204" pitchFamily="34" charset="-122"/>
              </a:rPr>
              <a:t>数据库使用MySQL。MySQL是一个开源关系数据库管理系统，同时是LAMP开源Web应用软件的关键组成部分。世界上许多著名的Web软件系统的数据库都是由MySQL关系数据库设计的。MySQL也同样适用于需要高质量和大规模的网站，如谷歌、Facebook、Twitter、YouTube等。</a:t>
            </a:r>
            <a:endParaRPr lang="zh-CN" altLang="en-US" b="1" dirty="0">
              <a:solidFill>
                <a:srgbClr val="E9C2A8"/>
              </a:solidFill>
              <a:latin typeface="微软雅黑" panose="020B0503020204020204" pitchFamily="34" charset="-122"/>
              <a:ea typeface="微软雅黑" panose="020B0503020204020204" pitchFamily="34" charset="-122"/>
            </a:endParaRPr>
          </a:p>
          <a:p>
            <a:r>
              <a:rPr lang="zh-CN" altLang="en-US" b="1" dirty="0">
                <a:solidFill>
                  <a:srgbClr val="E9C2A8"/>
                </a:solidFill>
                <a:latin typeface="微软雅黑" panose="020B0503020204020204" pitchFamily="34" charset="-122"/>
                <a:ea typeface="微软雅黑" panose="020B0503020204020204" pitchFamily="34" charset="-122"/>
              </a:rPr>
              <a:t>MySQL数据库的特性有很多。先，MySQL使用C和C++编写并使用了多种编译器进行测试以保证源代码的可移植性。MySQL数据库支持跨平台的特性使得它能够支持多种主流操作系统，并且它为多种编程语言提供API。它支持多线程，充分利用CPU资源。优化后的SQL查询算法可以有效提高查询速度。它可以在客户端—服务器的网络环境中用作单独的应用程序，也可以作为库嵌入到其他软件中，以提供多语言支持。不仅如此，常用编码可以用作数据表名和数据列名，由于它支持存储引擎的特性，它提供TCP/IP、JDBC等数据库连接通道，提供用于管理、检查和优化数据库操作的管理工具，可以处理拥有大量记录的大型数据库。</a:t>
            </a:r>
            <a:endParaRPr lang="zh-CN" altLang="en-US" b="1" dirty="0">
              <a:solidFill>
                <a:srgbClr val="E9C2A8"/>
              </a:solidFill>
              <a:latin typeface="微软雅黑" panose="020B0503020204020204" pitchFamily="34" charset="-122"/>
              <a:ea typeface="微软雅黑" panose="020B0503020204020204" pitchFamily="34" charset="-122"/>
            </a:endParaRPr>
          </a:p>
        </p:txBody>
      </p:sp>
      <p:pic>
        <p:nvPicPr>
          <p:cNvPr id="12" name="Picture 2"/>
          <p:cNvPicPr>
            <a:picLocks noChangeAspect="1" noChangeArrowheads="1"/>
          </p:cNvPicPr>
          <p:nvPr/>
        </p:nvPicPr>
        <p:blipFill>
          <a:blip r:embed="rId1" cstate="screen"/>
          <a:stretch>
            <a:fillRect/>
          </a:stretch>
        </p:blipFill>
        <p:spPr bwMode="auto">
          <a:xfrm flipH="1">
            <a:off x="186415" y="3198390"/>
            <a:ext cx="3237573" cy="2888720"/>
          </a:xfrm>
          <a:prstGeom prst="rect">
            <a:avLst/>
          </a:prstGeom>
          <a:noFill/>
          <a:effectLst>
            <a:outerShdw blurRad="177800" dir="5400000" sx="107000" sy="107000" algn="t" rotWithShape="0">
              <a:prstClr val="black">
                <a:alpha val="15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250"/>
                                        <p:tgtEl>
                                          <p:spTgt spid="12"/>
                                        </p:tgtEl>
                                      </p:cBhvr>
                                    </p:animEffect>
                                    <p:anim calcmode="lin" valueType="num">
                                      <p:cBhvr>
                                        <p:cTn id="8" dur="1250" fill="hold"/>
                                        <p:tgtEl>
                                          <p:spTgt spid="12"/>
                                        </p:tgtEl>
                                        <p:attrNameLst>
                                          <p:attrName>ppt_x</p:attrName>
                                        </p:attrNameLst>
                                      </p:cBhvr>
                                      <p:tavLst>
                                        <p:tav tm="0">
                                          <p:val>
                                            <p:strVal val="#ppt_x"/>
                                          </p:val>
                                        </p:tav>
                                        <p:tav tm="100000">
                                          <p:val>
                                            <p:strVal val="#ppt_x"/>
                                          </p:val>
                                        </p:tav>
                                      </p:tavLst>
                                    </p:anim>
                                    <p:anim calcmode="lin" valueType="num">
                                      <p:cBhvr>
                                        <p:cTn id="9" dur="125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500"/>
                            </p:stCondLst>
                            <p:childTnLst>
                              <p:par>
                                <p:cTn id="11" presetID="23" presetClass="entr" presetSubtype="32"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strVal val="4*#ppt_w"/>
                                          </p:val>
                                        </p:tav>
                                        <p:tav tm="100000">
                                          <p:val>
                                            <p:strVal val="#ppt_w"/>
                                          </p:val>
                                        </p:tav>
                                      </p:tavLst>
                                    </p:anim>
                                    <p:anim calcmode="lin" valueType="num">
                                      <p:cBhvr>
                                        <p:cTn id="14" dur="500" fill="hold"/>
                                        <p:tgtEl>
                                          <p:spTgt spid="7"/>
                                        </p:tgtEl>
                                        <p:attrNameLst>
                                          <p:attrName>ppt_h</p:attrName>
                                        </p:attrNameLst>
                                      </p:cBhvr>
                                      <p:tavLst>
                                        <p:tav tm="0">
                                          <p:val>
                                            <p:strVal val="4*#ppt_h"/>
                                          </p:val>
                                        </p:tav>
                                        <p:tav tm="100000">
                                          <p:val>
                                            <p:strVal val="#ppt_h"/>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1000" fill="hold"/>
                                        <p:tgtEl>
                                          <p:spTgt spid="9"/>
                                        </p:tgtEl>
                                        <p:attrNameLst>
                                          <p:attrName>ppt_w</p:attrName>
                                        </p:attrNameLst>
                                      </p:cBhvr>
                                      <p:tavLst>
                                        <p:tav tm="0">
                                          <p:val>
                                            <p:fltVal val="0"/>
                                          </p:val>
                                        </p:tav>
                                        <p:tav tm="100000">
                                          <p:val>
                                            <p:strVal val="#ppt_w"/>
                                          </p:val>
                                        </p:tav>
                                      </p:tavLst>
                                    </p:anim>
                                    <p:anim calcmode="lin" valueType="num">
                                      <p:cBhvr>
                                        <p:cTn id="18" dur="1000" fill="hold"/>
                                        <p:tgtEl>
                                          <p:spTgt spid="9"/>
                                        </p:tgtEl>
                                        <p:attrNameLst>
                                          <p:attrName>ppt_h</p:attrName>
                                        </p:attrNameLst>
                                      </p:cBhvr>
                                      <p:tavLst>
                                        <p:tav tm="0">
                                          <p:val>
                                            <p:fltVal val="0"/>
                                          </p:val>
                                        </p:tav>
                                        <p:tav tm="100000">
                                          <p:val>
                                            <p:strVal val="#ppt_h"/>
                                          </p:val>
                                        </p:tav>
                                      </p:tavLst>
                                    </p:anim>
                                    <p:animEffect transition="in" filter="fade">
                                      <p:cBhvr>
                                        <p:cTn id="19" dur="10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 calcmode="lin" valueType="num">
                                      <p:cBhvr>
                                        <p:cTn id="22" dur="1250" fill="hold"/>
                                        <p:tgtEl>
                                          <p:spTgt spid="10">
                                            <p:txEl>
                                              <p:pRg st="0" end="0"/>
                                            </p:txEl>
                                          </p:spTgt>
                                        </p:tgtEl>
                                        <p:attrNameLst>
                                          <p:attrName>ppt_w</p:attrName>
                                        </p:attrNameLst>
                                      </p:cBhvr>
                                      <p:tavLst>
                                        <p:tav tm="0">
                                          <p:val>
                                            <p:fltVal val="0"/>
                                          </p:val>
                                        </p:tav>
                                        <p:tav tm="100000">
                                          <p:val>
                                            <p:strVal val="#ppt_w"/>
                                          </p:val>
                                        </p:tav>
                                      </p:tavLst>
                                    </p:anim>
                                    <p:anim calcmode="lin" valueType="num">
                                      <p:cBhvr>
                                        <p:cTn id="23" dur="125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24" dur="1250"/>
                                        <p:tgtEl>
                                          <p:spTgt spid="10">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anim calcmode="lin" valueType="num">
                                      <p:cBhvr>
                                        <p:cTn id="29" dur="1250" fill="hold"/>
                                        <p:tgtEl>
                                          <p:spTgt spid="10">
                                            <p:txEl>
                                              <p:pRg st="1" end="1"/>
                                            </p:txEl>
                                          </p:spTgt>
                                        </p:tgtEl>
                                        <p:attrNameLst>
                                          <p:attrName>ppt_w</p:attrName>
                                        </p:attrNameLst>
                                      </p:cBhvr>
                                      <p:tavLst>
                                        <p:tav tm="0">
                                          <p:val>
                                            <p:fltVal val="0"/>
                                          </p:val>
                                        </p:tav>
                                        <p:tav tm="100000">
                                          <p:val>
                                            <p:strVal val="#ppt_w"/>
                                          </p:val>
                                        </p:tav>
                                      </p:tavLst>
                                    </p:anim>
                                    <p:anim calcmode="lin" valueType="num">
                                      <p:cBhvr>
                                        <p:cTn id="30" dur="1250" fill="hold"/>
                                        <p:tgtEl>
                                          <p:spTgt spid="10">
                                            <p:txEl>
                                              <p:pRg st="1" end="1"/>
                                            </p:txEl>
                                          </p:spTgt>
                                        </p:tgtEl>
                                        <p:attrNameLst>
                                          <p:attrName>ppt_h</p:attrName>
                                        </p:attrNameLst>
                                      </p:cBhvr>
                                      <p:tavLst>
                                        <p:tav tm="0">
                                          <p:val>
                                            <p:fltVal val="0"/>
                                          </p:val>
                                        </p:tav>
                                        <p:tav tm="100000">
                                          <p:val>
                                            <p:strVal val="#ppt_h"/>
                                          </p:val>
                                        </p:tav>
                                      </p:tavLst>
                                    </p:anim>
                                    <p:animEffect transition="in" filter="fade">
                                      <p:cBhvr>
                                        <p:cTn id="31" dur="125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17970" y="183511"/>
            <a:ext cx="3434080" cy="583565"/>
          </a:xfrm>
          <a:prstGeom prst="rect">
            <a:avLst/>
          </a:prstGeom>
          <a:noFill/>
        </p:spPr>
        <p:txBody>
          <a:bodyPr wrap="none" rtlCol="0" anchor="ctr">
            <a:spAutoFit/>
          </a:bodyPr>
          <a:lstStyle/>
          <a:p>
            <a:pPr algn="ctr"/>
            <a:r>
              <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系统的可行性分析</a:t>
            </a:r>
            <a:endPar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756285" y="1551305"/>
            <a:ext cx="10958195" cy="4576445"/>
          </a:xfrm>
          <a:prstGeom prst="rect">
            <a:avLst/>
          </a:prstGeom>
          <a:noFill/>
          <a:ln w="9525">
            <a:noFill/>
          </a:ln>
        </p:spPr>
        <p:txBody>
          <a:bodyPr>
            <a:noAutofit/>
          </a:bodyPr>
          <a:p>
            <a:pPr indent="0"/>
            <a:r>
              <a:rPr lang="zh-CN" altLang="en-US" b="0">
                <a:solidFill>
                  <a:srgbClr val="000000"/>
                </a:solidFill>
                <a:ea typeface="宋体" panose="02010600030101010101" pitchFamily="2" charset="-122"/>
              </a:rPr>
              <a:t>(1)经济可行性</a:t>
            </a:r>
            <a:endParaRPr lang="zh-CN" altLang="en-US" b="0">
              <a:solidFill>
                <a:srgbClr val="000000"/>
              </a:solidFill>
              <a:ea typeface="宋体" panose="02010600030101010101" pitchFamily="2" charset="-122"/>
            </a:endParaRPr>
          </a:p>
          <a:p>
            <a:pPr indent="0"/>
            <a:r>
              <a:rPr lang="zh-CN" altLang="en-US" b="0">
                <a:solidFill>
                  <a:srgbClr val="000000"/>
                </a:solidFill>
                <a:ea typeface="宋体" panose="02010600030101010101" pitchFamily="2" charset="-122"/>
              </a:rPr>
              <a:t>本明星周边商城系统作为本人的毕业设计作品，所有的开发工具均是使用的免费版本，硬件设备使用的个人笔记本电脑，这些费用以及所需要使用的资源都在自己的承受范围之内，除了精力和时间成本的投入，几乎没有其他的费用支出，因此属于较低成本的开发。并且，本明星周边商城系统实现的功能可以帮助提高工作效率，本系统如果开发成功被成功投入使用的话，系统预计带来的经济效益是无穷的——重复使用性可以节约大量人力物力财力。因此，本明星周边商城系统在经济方面是能够做到经济可行。</a:t>
            </a:r>
            <a:endParaRPr lang="zh-CN" altLang="en-US" b="0">
              <a:solidFill>
                <a:srgbClr val="000000"/>
              </a:solidFill>
              <a:ea typeface="宋体" panose="02010600030101010101" pitchFamily="2" charset="-122"/>
            </a:endParaRPr>
          </a:p>
          <a:p>
            <a:pPr indent="0"/>
            <a:r>
              <a:rPr lang="zh-CN" altLang="en-US" b="0">
                <a:solidFill>
                  <a:srgbClr val="000000"/>
                </a:solidFill>
                <a:ea typeface="宋体" panose="02010600030101010101" pitchFamily="2" charset="-122"/>
              </a:rPr>
              <a:t>(2)技术可行性</a:t>
            </a:r>
            <a:endParaRPr lang="zh-CN" altLang="en-US" b="0">
              <a:solidFill>
                <a:srgbClr val="000000"/>
              </a:solidFill>
              <a:ea typeface="宋体" panose="02010600030101010101" pitchFamily="2" charset="-122"/>
            </a:endParaRPr>
          </a:p>
          <a:p>
            <a:pPr indent="0"/>
            <a:r>
              <a:rPr lang="zh-CN" altLang="en-US" b="0">
                <a:solidFill>
                  <a:srgbClr val="000000"/>
                </a:solidFill>
                <a:ea typeface="宋体" panose="02010600030101010101" pitchFamily="2" charset="-122"/>
              </a:rPr>
              <a:t>本明星周边商城系统是基于springboot框架，前台VUE框架，使用MySQL数据库作为数据存储支撑，JAVA作为编程语言的，本系统所采用的开发技术，都是现行的比较流行的软件开发工具，经过市场的检验，此开发工具技术也比较成熟，对于技术使用方面，本专业的课程中也做了详细的介绍，使用和操作不成问题。因此，开发本明星周边商城系统在技术方面是能够做到技术可行[13]。</a:t>
            </a:r>
            <a:endParaRPr lang="zh-CN" altLang="en-US" b="0">
              <a:solidFill>
                <a:srgbClr val="000000"/>
              </a:solidFill>
              <a:ea typeface="宋体"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17970" y="183511"/>
            <a:ext cx="3434080" cy="583565"/>
          </a:xfrm>
          <a:prstGeom prst="rect">
            <a:avLst/>
          </a:prstGeom>
          <a:noFill/>
        </p:spPr>
        <p:txBody>
          <a:bodyPr wrap="none" rtlCol="0" anchor="ctr">
            <a:spAutoFit/>
          </a:bodyPr>
          <a:lstStyle/>
          <a:p>
            <a:pPr algn="ctr"/>
            <a:r>
              <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sym typeface="+mn-lt"/>
              </a:rPr>
              <a:t>管理员登录界面图</a:t>
            </a:r>
            <a:endPar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100" name="文本框 99"/>
          <p:cNvSpPr txBox="1"/>
          <p:nvPr/>
        </p:nvSpPr>
        <p:spPr>
          <a:xfrm>
            <a:off x="3556000" y="1593850"/>
            <a:ext cx="5080000" cy="4500880"/>
          </a:xfrm>
          <a:prstGeom prst="rect">
            <a:avLst/>
          </a:prstGeom>
          <a:noFill/>
          <a:ln w="9525">
            <a:noFill/>
          </a:ln>
        </p:spPr>
        <p:txBody>
          <a:bodyPr>
            <a:noAutofit/>
          </a:bodyPr>
          <a:p>
            <a:pPr indent="0"/>
            <a:endParaRPr lang="zh-CN" altLang="en-US" b="1">
              <a:solidFill>
                <a:srgbClr val="000000"/>
              </a:solidFill>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1312545" y="1396365"/>
            <a:ext cx="9120505" cy="481393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30770" y="183511"/>
            <a:ext cx="1808480" cy="583565"/>
          </a:xfrm>
          <a:prstGeom prst="rect">
            <a:avLst/>
          </a:prstGeom>
          <a:noFill/>
        </p:spPr>
        <p:txBody>
          <a:bodyPr wrap="none" rtlCol="0" anchor="ctr">
            <a:spAutoFit/>
          </a:bodyPr>
          <a:lstStyle/>
          <a:p>
            <a:pPr algn="ctr"/>
            <a:r>
              <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sym typeface="+mn-lt"/>
              </a:rPr>
              <a:t>系统测试</a:t>
            </a:r>
            <a:endPar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20" name="矩形 19"/>
          <p:cNvSpPr/>
          <p:nvPr/>
        </p:nvSpPr>
        <p:spPr>
          <a:xfrm flipH="1">
            <a:off x="340360" y="1631950"/>
            <a:ext cx="11306810" cy="4327525"/>
          </a:xfrm>
          <a:prstGeom prst="rect">
            <a:avLst/>
          </a:prstGeom>
        </p:spPr>
        <p:txBody>
          <a:bodyPr wrap="square">
            <a:noAutofit/>
          </a:bodyPr>
          <a:lstStyle/>
          <a:p>
            <a:pPr>
              <a:lnSpc>
                <a:spcPct val="150000"/>
              </a:lnSpc>
            </a:pPr>
            <a:r>
              <a:rPr lang="zh-CN" altLang="en-US" sz="2400" dirty="0">
                <a:solidFill>
                  <a:schemeClr val="bg1">
                    <a:lumMod val="65000"/>
                  </a:schemeClr>
                </a:solidFill>
                <a:latin typeface="微软雅黑" panose="020B0503020204020204" pitchFamily="34" charset="-122"/>
                <a:ea typeface="微软雅黑" panose="020B0503020204020204" pitchFamily="34" charset="-122"/>
              </a:rPr>
              <a:t>6.1  测试目的</a:t>
            </a:r>
            <a:endParaRPr lang="zh-CN" altLang="en-US" sz="24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chemeClr val="bg1">
                    <a:lumMod val="65000"/>
                  </a:schemeClr>
                </a:solidFill>
                <a:latin typeface="微软雅黑" panose="020B0503020204020204" pitchFamily="34" charset="-122"/>
                <a:ea typeface="微软雅黑" panose="020B0503020204020204" pitchFamily="34" charset="-122"/>
              </a:rPr>
              <a:t>为了知道本系统的设计是否符合设计的要求，就需要通过一定的方式进行检查。进行检查的目的不仅为了发现系统功能实现方面的不满足，而且还可以很大程度上发现系统可能存在的潜在bug或错误[15]。</a:t>
            </a:r>
            <a:endParaRPr lang="zh-CN" altLang="en-US" sz="24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chemeClr val="bg1">
                    <a:lumMod val="65000"/>
                  </a:schemeClr>
                </a:solidFill>
                <a:latin typeface="微软雅黑" panose="020B0503020204020204" pitchFamily="34" charset="-122"/>
                <a:ea typeface="微软雅黑" panose="020B0503020204020204" pitchFamily="34" charset="-122"/>
              </a:rPr>
              <a:t>6.2  测试方式</a:t>
            </a:r>
            <a:endParaRPr lang="zh-CN" altLang="en-US" sz="24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chemeClr val="bg1">
                    <a:lumMod val="65000"/>
                  </a:schemeClr>
                </a:solidFill>
                <a:latin typeface="微软雅黑" panose="020B0503020204020204" pitchFamily="34" charset="-122"/>
                <a:ea typeface="微软雅黑" panose="020B0503020204020204" pitchFamily="34" charset="-122"/>
              </a:rPr>
              <a:t>测试步骤也是非常重要的。对于本明星周边商城系统的测试在设计时，大部分的测试采用的是采用黑盒方式对各个功能逐个检测。这样能够保证该明星周边商城系统的所有功能模块都能够顺利完成相应的工作，确保系统完全符合用户的需求[16]。</a:t>
            </a:r>
            <a:endParaRPr lang="zh-CN" altLang="en-US" sz="24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6" name="矩形 25"/>
          <p:cNvSpPr/>
          <p:nvPr/>
        </p:nvSpPr>
        <p:spPr>
          <a:xfrm flipH="1">
            <a:off x="7049770" y="5253355"/>
            <a:ext cx="4248785" cy="321945"/>
          </a:xfrm>
          <a:prstGeom prst="rect">
            <a:avLst/>
          </a:prstGeom>
        </p:spPr>
        <p:txBody>
          <a:bodyPr wrap="square">
            <a:spAutoFit/>
          </a:bodyPr>
          <a:lstStyle/>
          <a:p>
            <a:pPr>
              <a:lnSpc>
                <a:spcPct val="150000"/>
              </a:lnSpc>
            </a:pPr>
            <a:endParaRPr lang="zh-CN" altLang="en-US" sz="10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677163" y="183511"/>
            <a:ext cx="1115695" cy="583565"/>
          </a:xfrm>
          <a:prstGeom prst="rect">
            <a:avLst/>
          </a:prstGeom>
          <a:noFill/>
        </p:spPr>
        <p:txBody>
          <a:bodyPr wrap="none" rtlCol="0" anchor="ctr">
            <a:spAutoFit/>
          </a:bodyPr>
          <a:lstStyle/>
          <a:p>
            <a:pPr algn="ctr"/>
            <a:r>
              <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sym typeface="+mn-lt"/>
              </a:rPr>
              <a:t>结 论</a:t>
            </a:r>
            <a:endPar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27" name="TextBox 27"/>
          <p:cNvSpPr txBox="1"/>
          <p:nvPr/>
        </p:nvSpPr>
        <p:spPr>
          <a:xfrm>
            <a:off x="1927860" y="2047875"/>
            <a:ext cx="9214485" cy="3575685"/>
          </a:xfrm>
          <a:prstGeom prst="rect">
            <a:avLst/>
          </a:prstGeom>
          <a:noFill/>
        </p:spPr>
        <p:txBody>
          <a:bodyPr wrap="square" rtlCol="0">
            <a:noAutofit/>
          </a:bodyPr>
          <a:lstStyle/>
          <a:p>
            <a:pPr algn="just">
              <a:lnSpc>
                <a:spcPct val="130000"/>
              </a:lnSpc>
            </a:pPr>
            <a:r>
              <a:rPr lang="zh-CN" altLang="en-US" sz="2000" dirty="0">
                <a:solidFill>
                  <a:schemeClr val="bg1">
                    <a:lumMod val="65000"/>
                  </a:schemeClr>
                </a:solidFill>
                <a:latin typeface="微软雅黑" panose="020B0503020204020204" pitchFamily="34" charset="-122"/>
                <a:ea typeface="微软雅黑" panose="020B0503020204020204" pitchFamily="34" charset="-122"/>
              </a:rPr>
              <a:t>经过这段时间的努力，毕业设计作品完成了，整个设计开发过程没有预想的那样容易，但成品还算是比较满意。记得最开始选择本专业时，因为觉得比较酷，再加上这个专业比较热门，随流，慢慢接触这个专业时，才发现很多东西并不是像所表现出来的那一面，本专业所涉及的知识点是非常多的，而且需要不断学习新知识，需要有足够的耐心解决问题，知识点要彻底掌握，要耐得住寂寞，经受得住失败。而现在，对于我所要从事的专业，我是非常感兴趣的，我喜欢经历过万般历练后的成功带给我的喜悦和自豪，我喜欢通过自己的努力将设想变成现实，我喜欢因为我所设计及开发的系统真正的运用到实际中，我会一直保持这份初心，做的更好。</a:t>
            </a:r>
            <a:endParaRPr lang="zh-CN" altLang="en-US" sz="20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750"/>
                            </p:stCondLst>
                            <p:childTnLst>
                              <p:par>
                                <p:cTn id="9" presetID="12" presetClass="entr" presetSubtype="8"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p:tgtEl>
                                          <p:spTgt spid="27"/>
                                        </p:tgtEl>
                                        <p:attrNameLst>
                                          <p:attrName>ppt_x</p:attrName>
                                        </p:attrNameLst>
                                      </p:cBhvr>
                                      <p:tavLst>
                                        <p:tav tm="0">
                                          <p:val>
                                            <p:strVal val="#ppt_x-#ppt_w*1.125000"/>
                                          </p:val>
                                        </p:tav>
                                        <p:tav tm="100000">
                                          <p:val>
                                            <p:strVal val="#ppt_x"/>
                                          </p:val>
                                        </p:tav>
                                      </p:tavLst>
                                    </p:anim>
                                    <p:animEffect transition="in" filter="wipe(right)">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30770" y="183511"/>
            <a:ext cx="1808480" cy="583565"/>
          </a:xfrm>
          <a:prstGeom prst="rect">
            <a:avLst/>
          </a:prstGeom>
          <a:noFill/>
        </p:spPr>
        <p:txBody>
          <a:bodyPr wrap="none" rtlCol="0" anchor="ctr">
            <a:spAutoFit/>
          </a:bodyPr>
          <a:lstStyle/>
          <a:p>
            <a:pPr algn="ctr"/>
            <a:r>
              <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sym typeface="+mn-lt"/>
              </a:rPr>
              <a:t>参考文献</a:t>
            </a:r>
            <a:endParaRPr lang="zh-CN" altLang="en-US" sz="32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71" name="文本框 18"/>
          <p:cNvSpPr txBox="1"/>
          <p:nvPr/>
        </p:nvSpPr>
        <p:spPr bwMode="auto">
          <a:xfrm>
            <a:off x="7758430" y="2919730"/>
            <a:ext cx="1690370" cy="255905"/>
          </a:xfrm>
          <a:prstGeom prst="rect">
            <a:avLst/>
          </a:prstGeom>
          <a:noFill/>
        </p:spPr>
        <p:txBody>
          <a:bodyPr wrap="square">
            <a:spAutoFit/>
          </a:bodyPr>
          <a:lstStyle/>
          <a:p>
            <a:pPr>
              <a:lnSpc>
                <a:spcPct val="130000"/>
              </a:lnSpc>
              <a:defRPr/>
            </a:pPr>
            <a:endParaRPr lang="zh-CN" altLang="en-US" sz="1200"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3" name="组合 72"/>
          <p:cNvGrpSpPr/>
          <p:nvPr/>
        </p:nvGrpSpPr>
        <p:grpSpPr>
          <a:xfrm>
            <a:off x="5361507" y="1845047"/>
            <a:ext cx="10467624" cy="5160609"/>
            <a:chOff x="920608" y="-2767529"/>
            <a:chExt cx="10467624" cy="5160609"/>
          </a:xfrm>
        </p:grpSpPr>
        <p:sp>
          <p:nvSpPr>
            <p:cNvPr id="74" name="文本框 21"/>
            <p:cNvSpPr txBox="1"/>
            <p:nvPr/>
          </p:nvSpPr>
          <p:spPr bwMode="auto">
            <a:xfrm>
              <a:off x="920608" y="-2767529"/>
              <a:ext cx="2171363" cy="330835"/>
            </a:xfrm>
            <a:prstGeom prst="rect">
              <a:avLst/>
            </a:prstGeom>
            <a:noFill/>
          </p:spPr>
          <p:txBody>
            <a:bodyPr wrap="square">
              <a:spAutoFit/>
            </a:bodyPr>
            <a:lstStyle/>
            <a:p>
              <a:pPr>
                <a:lnSpc>
                  <a:spcPct val="130000"/>
                </a:lnSpc>
                <a:defRPr/>
              </a:pPr>
              <a:endParaRPr lang="zh-CN" altLang="en-US" sz="12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75" name="文本框 22"/>
            <p:cNvSpPr txBox="1"/>
            <p:nvPr/>
          </p:nvSpPr>
          <p:spPr bwMode="auto">
            <a:xfrm>
              <a:off x="9038448" y="2086375"/>
              <a:ext cx="2349784" cy="306705"/>
            </a:xfrm>
            <a:prstGeom prst="rect">
              <a:avLst/>
            </a:prstGeom>
            <a:noFill/>
          </p:spPr>
          <p:txBody>
            <a:bodyPr wrap="square">
              <a:spAutoFit/>
            </a:bodyPr>
            <a:lstStyle/>
            <a:p>
              <a:endParaRPr lang="en-US" altLang="zh-CN" sz="1400" dirty="0">
                <a:solidFill>
                  <a:schemeClr val="bg1">
                    <a:lumMod val="65000"/>
                  </a:schemeClr>
                </a:solidFill>
                <a:latin typeface="微软雅黑" panose="020B0503020204020204" pitchFamily="34" charset="-122"/>
                <a:ea typeface="微软雅黑" panose="020B0503020204020204" pitchFamily="34" charset="-122"/>
              </a:endParaRPr>
            </a:p>
          </p:txBody>
        </p:sp>
      </p:grpSp>
      <p:sp>
        <p:nvSpPr>
          <p:cNvPr id="81" name="文本框 28"/>
          <p:cNvSpPr txBox="1"/>
          <p:nvPr/>
        </p:nvSpPr>
        <p:spPr>
          <a:xfrm flipH="1">
            <a:off x="3611245" y="3850005"/>
            <a:ext cx="511810" cy="184785"/>
          </a:xfrm>
          <a:prstGeom prst="rect">
            <a:avLst/>
          </a:prstGeom>
          <a:noFill/>
        </p:spPr>
        <p:txBody>
          <a:bodyPr wrap="square" rtlCol="0">
            <a:spAutoFit/>
          </a:bodyPr>
          <a:lstStyle/>
          <a:p>
            <a:pPr algn="dist"/>
            <a:r>
              <a:rPr lang="en-US" altLang="zh-CN" sz="600" dirty="0">
                <a:solidFill>
                  <a:schemeClr val="bg1"/>
                </a:solidFill>
                <a:latin typeface="Agency FB" panose="020B0503020202020204" pitchFamily="34" charset="0"/>
                <a:ea typeface="微软雅黑" panose="020B0503020204020204" pitchFamily="34" charset="-122"/>
              </a:rPr>
              <a:t>OPTION</a:t>
            </a:r>
            <a:endParaRPr lang="zh-CN" altLang="en-US" sz="600" dirty="0">
              <a:solidFill>
                <a:schemeClr val="bg1"/>
              </a:solidFill>
              <a:latin typeface="Agency FB" panose="020B0503020202020204" pitchFamily="34" charset="0"/>
              <a:ea typeface="微软雅黑" panose="020B0503020204020204" pitchFamily="34" charset="-122"/>
            </a:endParaRPr>
          </a:p>
        </p:txBody>
      </p:sp>
      <p:sp>
        <p:nvSpPr>
          <p:cNvPr id="84" name="文本框 31"/>
          <p:cNvSpPr txBox="1"/>
          <p:nvPr/>
        </p:nvSpPr>
        <p:spPr>
          <a:xfrm flipH="1">
            <a:off x="5845175" y="3195955"/>
            <a:ext cx="511810" cy="184785"/>
          </a:xfrm>
          <a:prstGeom prst="rect">
            <a:avLst/>
          </a:prstGeom>
          <a:noFill/>
        </p:spPr>
        <p:txBody>
          <a:bodyPr wrap="square" rtlCol="0">
            <a:spAutoFit/>
          </a:bodyPr>
          <a:lstStyle/>
          <a:p>
            <a:pPr algn="dist"/>
            <a:r>
              <a:rPr lang="en-US" altLang="zh-CN" sz="600" dirty="0">
                <a:solidFill>
                  <a:schemeClr val="bg1"/>
                </a:solidFill>
                <a:latin typeface="Agency FB" panose="020B0503020202020204" pitchFamily="34" charset="0"/>
                <a:ea typeface="微软雅黑" panose="020B0503020204020204" pitchFamily="34" charset="-122"/>
              </a:rPr>
              <a:t>OPTION</a:t>
            </a:r>
            <a:endParaRPr lang="zh-CN" altLang="en-US" sz="600" dirty="0">
              <a:solidFill>
                <a:schemeClr val="bg1"/>
              </a:solidFill>
              <a:latin typeface="Agency FB" panose="020B0503020202020204" pitchFamily="34" charset="0"/>
              <a:ea typeface="微软雅黑" panose="020B0503020204020204" pitchFamily="34" charset="-122"/>
            </a:endParaRPr>
          </a:p>
        </p:txBody>
      </p:sp>
      <p:sp>
        <p:nvSpPr>
          <p:cNvPr id="87" name="文本框 34"/>
          <p:cNvSpPr txBox="1"/>
          <p:nvPr/>
        </p:nvSpPr>
        <p:spPr>
          <a:xfrm flipH="1">
            <a:off x="8045450" y="3831590"/>
            <a:ext cx="511810" cy="184785"/>
          </a:xfrm>
          <a:prstGeom prst="rect">
            <a:avLst/>
          </a:prstGeom>
          <a:noFill/>
        </p:spPr>
        <p:txBody>
          <a:bodyPr wrap="square" rtlCol="0">
            <a:spAutoFit/>
          </a:bodyPr>
          <a:lstStyle/>
          <a:p>
            <a:pPr algn="dist"/>
            <a:r>
              <a:rPr lang="en-US" altLang="zh-CN" sz="600" dirty="0">
                <a:solidFill>
                  <a:schemeClr val="bg1"/>
                </a:solidFill>
                <a:latin typeface="Agency FB" panose="020B0503020202020204" pitchFamily="34" charset="0"/>
                <a:ea typeface="微软雅黑" panose="020B0503020204020204" pitchFamily="34" charset="-122"/>
              </a:rPr>
              <a:t>OPTION</a:t>
            </a:r>
            <a:endParaRPr lang="zh-CN" altLang="en-US" sz="600" dirty="0">
              <a:solidFill>
                <a:schemeClr val="bg1"/>
              </a:solidFill>
              <a:latin typeface="Agency FB" panose="020B0503020202020204" pitchFamily="34" charset="0"/>
              <a:ea typeface="微软雅黑" panose="020B0503020204020204" pitchFamily="34" charset="-122"/>
            </a:endParaRPr>
          </a:p>
        </p:txBody>
      </p:sp>
      <p:sp>
        <p:nvSpPr>
          <p:cNvPr id="90" name="文本框 37"/>
          <p:cNvSpPr txBox="1"/>
          <p:nvPr/>
        </p:nvSpPr>
        <p:spPr>
          <a:xfrm flipH="1">
            <a:off x="9641840" y="5440045"/>
            <a:ext cx="511810" cy="184785"/>
          </a:xfrm>
          <a:prstGeom prst="rect">
            <a:avLst/>
          </a:prstGeom>
          <a:noFill/>
        </p:spPr>
        <p:txBody>
          <a:bodyPr wrap="square" rtlCol="0">
            <a:spAutoFit/>
          </a:bodyPr>
          <a:lstStyle/>
          <a:p>
            <a:pPr algn="dist"/>
            <a:r>
              <a:rPr lang="en-US" altLang="zh-CN" sz="600" dirty="0">
                <a:solidFill>
                  <a:schemeClr val="bg1"/>
                </a:solidFill>
                <a:latin typeface="Agency FB" panose="020B0503020202020204" pitchFamily="34" charset="0"/>
                <a:ea typeface="微软雅黑" panose="020B0503020204020204" pitchFamily="34" charset="-122"/>
              </a:rPr>
              <a:t>OPTION</a:t>
            </a:r>
            <a:endParaRPr lang="zh-CN" altLang="en-US" sz="600" dirty="0">
              <a:solidFill>
                <a:schemeClr val="bg1"/>
              </a:solidFill>
              <a:latin typeface="Agency FB" panose="020B0503020202020204" pitchFamily="34" charset="0"/>
              <a:ea typeface="微软雅黑" panose="020B0503020204020204" pitchFamily="34" charset="-122"/>
            </a:endParaRPr>
          </a:p>
        </p:txBody>
      </p:sp>
      <p:sp>
        <p:nvSpPr>
          <p:cNvPr id="3" name="文本框 2"/>
          <p:cNvSpPr txBox="1"/>
          <p:nvPr/>
        </p:nvSpPr>
        <p:spPr>
          <a:xfrm>
            <a:off x="875665" y="1481455"/>
            <a:ext cx="10903585" cy="4773295"/>
          </a:xfrm>
          <a:prstGeom prst="rect">
            <a:avLst/>
          </a:prstGeom>
          <a:noFill/>
        </p:spPr>
        <p:txBody>
          <a:bodyPr wrap="square" rtlCol="0">
            <a:noAutofit/>
          </a:bodyPr>
          <a:p>
            <a:r>
              <a:rPr lang="zh-CN" altLang="en-US" sz="2000"/>
              <a:t>[1] 塞奎春、宋坤、李严.《MySQL数据库开发实例解析》.北京：机械工业出版社.2016.</a:t>
            </a:r>
            <a:endParaRPr lang="zh-CN" altLang="en-US" sz="2000"/>
          </a:p>
          <a:p>
            <a:r>
              <a:rPr lang="zh-CN" altLang="en-US" sz="2000"/>
              <a:t>[2] 余金山、林慧.《MySQL数据库开发实例入门与提高》.北京：电子工业出版社.2015.</a:t>
            </a:r>
            <a:endParaRPr lang="zh-CN" altLang="en-US" sz="2000"/>
          </a:p>
          <a:p>
            <a:r>
              <a:rPr lang="zh-CN" altLang="en-US" sz="2000"/>
              <a:t>[3] 魏洪斌、周鑫、刘志江. 《Dreamweaver MX 网页设计》. 北京：清华大学出版社，2014.</a:t>
            </a:r>
            <a:endParaRPr lang="zh-CN" altLang="en-US" sz="2000"/>
          </a:p>
          <a:p>
            <a:r>
              <a:rPr lang="zh-CN" altLang="en-US" sz="2000"/>
              <a:t>[4] 孙践知. 《网络程序设计案例教程—springboot+MySQL（JAVA实现）》. 北京：清华大学出版社,2019.</a:t>
            </a:r>
            <a:endParaRPr lang="zh-CN" altLang="en-US" sz="2000"/>
          </a:p>
          <a:p>
            <a:r>
              <a:rPr lang="zh-CN" altLang="en-US" sz="2000"/>
              <a:t>[5] 李世杰 .《Active Server Pages(ASP)3.0 网页设计手册》.北京:清华大学出版社，2015</a:t>
            </a:r>
            <a:endParaRPr lang="zh-CN" altLang="en-US" sz="2000"/>
          </a:p>
          <a:p>
            <a:r>
              <a:rPr lang="zh-CN" altLang="en-US" sz="2000"/>
              <a:t>[6]百度.Ajax[EB/OL].http://baike.baidu.com</a:t>
            </a:r>
            <a:endParaRPr lang="zh-CN" altLang="en-US" sz="2000"/>
          </a:p>
          <a:p>
            <a:r>
              <a:rPr lang="zh-CN" altLang="en-US" sz="2000"/>
              <a:t>[7] Karli Watson .《JAVA 入门经典》[M] 康博 译.清华大学出版社,2014</a:t>
            </a:r>
            <a:endParaRPr lang="zh-CN" altLang="en-US" sz="2000"/>
          </a:p>
          <a:p>
            <a:r>
              <a:rPr lang="zh-CN" altLang="en-US" sz="2000"/>
              <a:t>[8] 张燕.《基于JAVA下数据库连接技术分析》[J].科学技术创新,2018</a:t>
            </a:r>
            <a:endParaRPr lang="zh-CN" altLang="en-US" sz="2000"/>
          </a:p>
          <a:p>
            <a:r>
              <a:rPr lang="zh-CN" altLang="en-US" sz="2000"/>
              <a:t>[9]储久良.《Web前端开发技术实验与实践》[M].北京：清华大学出版社，2013,55-169</a:t>
            </a:r>
            <a:endParaRPr lang="zh-CN" altLang="en-US" sz="2000"/>
          </a:p>
          <a:p>
            <a:r>
              <a:rPr lang="zh-CN" altLang="en-US" sz="2000"/>
              <a:t>[10] 陈伟 .《 MySQL数据库应用与开发教程》 . 北京：清华大学出版社，2017</a:t>
            </a:r>
            <a:endParaRPr lang="zh-CN" altLang="en-US" sz="20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750"/>
                            </p:stCondLst>
                            <p:childTnLst>
                              <p:par>
                                <p:cTn id="9" presetID="16" presetClass="entr" presetSubtype="37" fill="hold"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barn(outVertical)">
                                      <p:cBhvr>
                                        <p:cTn id="11"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8"/>
          <p:cNvSpPr txBox="1"/>
          <p:nvPr/>
        </p:nvSpPr>
        <p:spPr>
          <a:xfrm>
            <a:off x="5022215" y="339090"/>
            <a:ext cx="2717165" cy="817245"/>
          </a:xfrm>
          <a:prstGeom prst="rect">
            <a:avLst/>
          </a:prstGeom>
          <a:noFill/>
        </p:spPr>
        <p:txBody>
          <a:bodyPr wrap="square" rtlCol="0">
            <a:noAutofit/>
          </a:bodyPr>
          <a:lstStyle/>
          <a:p>
            <a:r>
              <a:rPr lang="zh-CN" altLang="en-US" sz="2800" b="1" dirty="0">
                <a:solidFill>
                  <a:srgbClr val="E9C2A8"/>
                </a:solidFill>
                <a:latin typeface="微软雅黑" panose="020B0503020204020204" pitchFamily="34" charset="-122"/>
                <a:ea typeface="微软雅黑" panose="020B0503020204020204" pitchFamily="34" charset="-122"/>
              </a:rPr>
              <a:t>致 谢</a:t>
            </a:r>
            <a:endParaRPr lang="zh-CN" altLang="en-US" sz="2800" b="1" dirty="0">
              <a:solidFill>
                <a:srgbClr val="E9C2A8"/>
              </a:solidFill>
              <a:latin typeface="微软雅黑" panose="020B0503020204020204" pitchFamily="34" charset="-122"/>
              <a:ea typeface="微软雅黑" panose="020B0503020204020204" pitchFamily="34" charset="-122"/>
            </a:endParaRPr>
          </a:p>
        </p:txBody>
      </p:sp>
      <p:pic>
        <p:nvPicPr>
          <p:cNvPr id="12" name="Picture 2"/>
          <p:cNvPicPr>
            <a:picLocks noChangeAspect="1" noChangeArrowheads="1"/>
          </p:cNvPicPr>
          <p:nvPr/>
        </p:nvPicPr>
        <p:blipFill>
          <a:blip r:embed="rId1" cstate="screen"/>
          <a:stretch>
            <a:fillRect/>
          </a:stretch>
        </p:blipFill>
        <p:spPr bwMode="auto">
          <a:xfrm flipH="1">
            <a:off x="8817335" y="-145520"/>
            <a:ext cx="3237573" cy="2888720"/>
          </a:xfrm>
          <a:prstGeom prst="rect">
            <a:avLst/>
          </a:prstGeom>
          <a:noFill/>
          <a:effectLst>
            <a:outerShdw blurRad="177800" dir="5400000" sx="107000" sy="107000" algn="t" rotWithShape="0">
              <a:prstClr val="black">
                <a:alpha val="15000"/>
              </a:prstClr>
            </a:outerShdw>
          </a:effectLst>
          <a:extLst>
            <a:ext uri="{909E8E84-426E-40DD-AFC4-6F175D3DCCD1}">
              <a14:hiddenFill xmlns:a14="http://schemas.microsoft.com/office/drawing/2010/main">
                <a:solidFill>
                  <a:srgbClr val="FFFFFF"/>
                </a:solidFill>
              </a14:hiddenFill>
            </a:ext>
          </a:extLst>
        </p:spPr>
      </p:pic>
      <p:sp>
        <p:nvSpPr>
          <p:cNvPr id="11" name="文本框 10"/>
          <p:cNvSpPr txBox="1"/>
          <p:nvPr>
            <p:custDataLst>
              <p:tags r:id="rId2"/>
            </p:custDataLst>
          </p:nvPr>
        </p:nvSpPr>
        <p:spPr>
          <a:xfrm>
            <a:off x="875665" y="1481455"/>
            <a:ext cx="10903585" cy="4773295"/>
          </a:xfrm>
          <a:prstGeom prst="rect">
            <a:avLst/>
          </a:prstGeom>
          <a:noFill/>
        </p:spPr>
        <p:txBody>
          <a:bodyPr wrap="square" rtlCol="0">
            <a:noAutofit/>
          </a:bodyPr>
          <a:p>
            <a:r>
              <a:rPr lang="zh-CN" altLang="en-US" sz="2000"/>
              <a:t>随着毕业设计作品的完成，我的大学生活也即将结束，大学之所以称之为大学，和我们所经历过的小学、初中和高中是有区别的，大学学习没有那么多的限制，比较自由，我们可以选择的范围更加宽广。在大学中，我学到了很多，我所收获的除了专业知识，还有更重要的是综合处理事情的能力。</a:t>
            </a:r>
            <a:endParaRPr lang="zh-CN" altLang="en-US" sz="2000"/>
          </a:p>
          <a:p>
            <a:r>
              <a:rPr lang="zh-CN" altLang="en-US" sz="2000"/>
              <a:t>在这段大学的旅途中，我是幸运的，有幸遇到一群良师益友，非常感谢你们陪我走过这一段路，感恩导师，谢谢你们在我迷茫的时候给我指引方向，在前进道路上不断给我纠正错误，鞭策我不断前进；感恩同学，谢谢你们不厌其烦，这段时间没少叨扰，感谢你们的帮助，在我遇到困难时，帮我查阅收集资料，当我陷入误区时，指正我的错误，避免我钻牛角尖，是你们，给予了我前进的动力；感恩学校领导，谢谢对于我物资及生活上的支持；感恩父母，谢谢你们无条件的关爱；感恩我身边的一切。</a:t>
            </a:r>
            <a:endParaRPr lang="zh-CN" altLang="en-US" sz="2000"/>
          </a:p>
          <a:p>
            <a:r>
              <a:rPr lang="zh-CN" altLang="en-US" sz="2000"/>
              <a:t>最后，再次衷心地感谢帮助我的所有人，新的旅途即将开始，我会坚持初心，往后余生，心存感激，继续前进。</a:t>
            </a:r>
            <a:endParaRPr lang="zh-CN" altLang="en-US" sz="20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250"/>
                                        <p:tgtEl>
                                          <p:spTgt spid="12"/>
                                        </p:tgtEl>
                                      </p:cBhvr>
                                    </p:animEffect>
                                    <p:anim calcmode="lin" valueType="num">
                                      <p:cBhvr>
                                        <p:cTn id="8" dur="1250" fill="hold"/>
                                        <p:tgtEl>
                                          <p:spTgt spid="12"/>
                                        </p:tgtEl>
                                        <p:attrNameLst>
                                          <p:attrName>ppt_x</p:attrName>
                                        </p:attrNameLst>
                                      </p:cBhvr>
                                      <p:tavLst>
                                        <p:tav tm="0">
                                          <p:val>
                                            <p:strVal val="#ppt_x"/>
                                          </p:val>
                                        </p:tav>
                                        <p:tav tm="100000">
                                          <p:val>
                                            <p:strVal val="#ppt_x"/>
                                          </p:val>
                                        </p:tav>
                                      </p:tavLst>
                                    </p:anim>
                                    <p:anim calcmode="lin" valueType="num">
                                      <p:cBhvr>
                                        <p:cTn id="9" dur="1250" fill="hold"/>
                                        <p:tgtEl>
                                          <p:spTgt spid="12"/>
                                        </p:tgtEl>
                                        <p:attrNameLst>
                                          <p:attrName>ppt_y</p:attrName>
                                        </p:attrNameLst>
                                      </p:cBhvr>
                                      <p:tavLst>
                                        <p:tav tm="0">
                                          <p:val>
                                            <p:strVal val="#ppt_y+.1"/>
                                          </p:val>
                                        </p:tav>
                                        <p:tav tm="100000">
                                          <p:val>
                                            <p:strVal val="#ppt_y"/>
                                          </p:val>
                                        </p:tav>
                                      </p:tavLst>
                                    </p:anim>
                                  </p:childTnLst>
                                </p:cTn>
                              </p:par>
                              <p:par>
                                <p:cTn id="10" presetID="53" presetClass="entr" presetSubtype="16" fill="hold" grpId="0" nodeType="with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 calcmode="lin" valueType="num">
                                      <p:cBhvr>
                                        <p:cTn id="12" dur="125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3" dur="125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4" dur="125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p:cNvPicPr>
            <a:picLocks noChangeAspect="1"/>
          </p:cNvPicPr>
          <p:nvPr/>
        </p:nvPicPr>
        <p:blipFill rotWithShape="1">
          <a:blip r:embed="rId1" cstate="screen">
            <a:duotone>
              <a:schemeClr val="accent2">
                <a:shade val="45000"/>
                <a:satMod val="135000"/>
              </a:schemeClr>
              <a:prstClr val="white"/>
            </a:duotone>
          </a:blip>
          <a:srcRect/>
          <a:stretch>
            <a:fillRect/>
          </a:stretch>
        </p:blipFill>
        <p:spPr>
          <a:xfrm rot="5243081">
            <a:off x="6920520" y="2473064"/>
            <a:ext cx="3657001" cy="2201845"/>
          </a:xfrm>
          <a:prstGeom prst="rect">
            <a:avLst/>
          </a:prstGeom>
        </p:spPr>
      </p:pic>
      <p:pic>
        <p:nvPicPr>
          <p:cNvPr id="31" name="图片 30"/>
          <p:cNvPicPr>
            <a:picLocks noChangeAspect="1"/>
          </p:cNvPicPr>
          <p:nvPr/>
        </p:nvPicPr>
        <p:blipFill rotWithShape="1">
          <a:blip r:embed="rId1" cstate="screen">
            <a:duotone>
              <a:schemeClr val="accent2">
                <a:shade val="45000"/>
                <a:satMod val="135000"/>
              </a:schemeClr>
              <a:prstClr val="white"/>
            </a:duotone>
          </a:blip>
          <a:srcRect/>
          <a:stretch>
            <a:fillRect/>
          </a:stretch>
        </p:blipFill>
        <p:spPr>
          <a:xfrm rot="5808097" flipV="1">
            <a:off x="1764623" y="2565181"/>
            <a:ext cx="3657001" cy="2149823"/>
          </a:xfrm>
          <a:prstGeom prst="rect">
            <a:avLst/>
          </a:prstGeom>
        </p:spPr>
      </p:pic>
      <p:pic>
        <p:nvPicPr>
          <p:cNvPr id="40" name="Picture 2"/>
          <p:cNvPicPr>
            <a:picLocks noChangeAspect="1" noChangeArrowheads="1"/>
          </p:cNvPicPr>
          <p:nvPr/>
        </p:nvPicPr>
        <p:blipFill>
          <a:blip r:embed="rId2" cstate="screen"/>
          <a:stretch>
            <a:fillRect/>
          </a:stretch>
        </p:blipFill>
        <p:spPr bwMode="auto">
          <a:xfrm flipH="1">
            <a:off x="6321784" y="252795"/>
            <a:ext cx="3237573" cy="2888720"/>
          </a:xfrm>
          <a:prstGeom prst="rect">
            <a:avLst/>
          </a:prstGeom>
          <a:noFill/>
          <a:effectLst>
            <a:outerShdw blurRad="177800" dir="5400000" sx="107000" sy="107000" algn="t" rotWithShape="0">
              <a:prstClr val="black">
                <a:alpha val="15000"/>
              </a:prstClr>
            </a:outerShdw>
          </a:effectLst>
          <a:extLst>
            <a:ext uri="{909E8E84-426E-40DD-AFC4-6F175D3DCCD1}">
              <a14:hiddenFill xmlns:a14="http://schemas.microsoft.com/office/drawing/2010/main">
                <a:solidFill>
                  <a:srgbClr val="FFFFFF"/>
                </a:solidFill>
              </a14:hiddenFill>
            </a:ext>
          </a:extLst>
        </p:spPr>
      </p:pic>
      <p:sp>
        <p:nvSpPr>
          <p:cNvPr id="4" name="文本框 3" descr="7b0a2020202022776f7264617274223a20227b5c2269645c223a32303430393135312c5c227469645c223a31333438307d220a7d0a"/>
          <p:cNvSpPr txBox="1"/>
          <p:nvPr/>
        </p:nvSpPr>
        <p:spPr>
          <a:xfrm>
            <a:off x="4161155" y="3439160"/>
            <a:ext cx="4064000" cy="1008000"/>
          </a:xfrm>
          <a:prstGeom prst="rect">
            <a:avLst/>
          </a:prstGeom>
          <a:noFill/>
        </p:spPr>
        <p:txBody>
          <a:bodyPr wrap="square" rtlCol="0">
            <a:noAutofit/>
            <a:scene3d>
              <a:camera prst="obliqueTopRight"/>
              <a:lightRig rig="contrasting" dir="t">
                <a:rot lat="0" lon="0" rev="0"/>
              </a:lightRig>
            </a:scene3d>
            <a:sp3d extrusionH="254000" contourW="7620">
              <a:extrusionClr>
                <a:srgbClr val="C68686"/>
              </a:extrusionClr>
              <a:contourClr>
                <a:srgbClr val="7B554F"/>
              </a:contourClr>
            </a:sp3d>
          </a:bodyPr>
          <a:p>
            <a:r>
              <a:rPr lang="zh-CN" altLang="en-US" sz="6000" b="1">
                <a:ln w="6350">
                  <a:solidFill>
                    <a:srgbClr val="C08280">
                      <a:alpha val="97000"/>
                    </a:srgbClr>
                  </a:solidFill>
                </a:ln>
                <a:solidFill>
                  <a:srgbClr val="EDD9DA"/>
                </a:solidFill>
                <a:effectLst>
                  <a:innerShdw blurRad="25400" dist="50800" dir="5400000">
                    <a:srgbClr val="1C1A0E">
                      <a:alpha val="50000"/>
                    </a:srgbClr>
                  </a:innerShdw>
                  <a:reflection blurRad="45720" stA="25000" endA="900" endPos="42000" dist="76200" dir="5400000" sy="-100000" algn="bl" rotWithShape="0"/>
                </a:effectLst>
                <a:latin typeface="汉仪粗黑简" panose="02010600000101010101" charset="-122"/>
                <a:ea typeface="汉仪粗黑简" panose="02010600000101010101" charset="-122"/>
                <a:cs typeface="汉仪铸字童年体W" charset="0"/>
              </a:rPr>
              <a:t>谢谢观看</a:t>
            </a:r>
            <a:endParaRPr lang="zh-CN" altLang="en-US" sz="6000" b="1">
              <a:ln w="6350">
                <a:solidFill>
                  <a:srgbClr val="C08280">
                    <a:alpha val="97000"/>
                  </a:srgbClr>
                </a:solidFill>
              </a:ln>
              <a:solidFill>
                <a:srgbClr val="EDD9DA"/>
              </a:solidFill>
              <a:effectLst>
                <a:innerShdw blurRad="25400" dist="50800" dir="5400000">
                  <a:srgbClr val="1C1A0E">
                    <a:alpha val="50000"/>
                  </a:srgbClr>
                </a:innerShdw>
                <a:reflection blurRad="45720" stA="25000" endA="900" endPos="42000" dist="76200" dir="5400000" sy="-100000" algn="bl" rotWithShape="0"/>
              </a:effectLst>
              <a:latin typeface="汉仪粗黑简" panose="02010600000101010101" charset="-122"/>
              <a:ea typeface="汉仪粗黑简" panose="02010600000101010101" charset="-122"/>
              <a:cs typeface="汉仪铸字童年体W"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1000"/>
                                        <p:tgtEl>
                                          <p:spTgt spid="31"/>
                                        </p:tgtEl>
                                      </p:cBhvr>
                                    </p:animEffect>
                                    <p:anim calcmode="lin" valueType="num">
                                      <p:cBhvr>
                                        <p:cTn id="14" dur="1000" fill="hold"/>
                                        <p:tgtEl>
                                          <p:spTgt spid="31"/>
                                        </p:tgtEl>
                                        <p:attrNameLst>
                                          <p:attrName>ppt_x</p:attrName>
                                        </p:attrNameLst>
                                      </p:cBhvr>
                                      <p:tavLst>
                                        <p:tav tm="0">
                                          <p:val>
                                            <p:strVal val="#ppt_x"/>
                                          </p:val>
                                        </p:tav>
                                        <p:tav tm="100000">
                                          <p:val>
                                            <p:strVal val="#ppt_x"/>
                                          </p:val>
                                        </p:tav>
                                      </p:tavLst>
                                    </p:anim>
                                    <p:anim calcmode="lin" valueType="num">
                                      <p:cBhvr>
                                        <p:cTn id="15" dur="10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1250"/>
                                        <p:tgtEl>
                                          <p:spTgt spid="40"/>
                                        </p:tgtEl>
                                      </p:cBhvr>
                                    </p:animEffect>
                                    <p:anim calcmode="lin" valueType="num">
                                      <p:cBhvr>
                                        <p:cTn id="20" dur="1250" fill="hold"/>
                                        <p:tgtEl>
                                          <p:spTgt spid="40"/>
                                        </p:tgtEl>
                                        <p:attrNameLst>
                                          <p:attrName>ppt_x</p:attrName>
                                        </p:attrNameLst>
                                      </p:cBhvr>
                                      <p:tavLst>
                                        <p:tav tm="0">
                                          <p:val>
                                            <p:strVal val="#ppt_x"/>
                                          </p:val>
                                        </p:tav>
                                        <p:tav tm="100000">
                                          <p:val>
                                            <p:strVal val="#ppt_x"/>
                                          </p:val>
                                        </p:tav>
                                      </p:tavLst>
                                    </p:anim>
                                    <p:anim calcmode="lin" valueType="num">
                                      <p:cBhvr>
                                        <p:cTn id="21" dur="125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ISPRING_PRESENTATION_TITLE" val="PowerPoint 演示文稿"/>
  <p:tag name="COMMONDATA" val="eyJoZGlkIjoiZWUxYjE2MmFiN2JiYjgwN2JhMDQ5NDllMGViNTU1YTcifQ=="/>
  <p:tag name="KSO_WPP_MARK_KEY" val="463d504c-8663-4728-bd16-9214f17ec224"/>
  <p:tag name="commondata" val="eyJoZGlkIjoiYWFkZDkyYzBlZGRmYWIwOWEyZmVkMGZjMDU5MTU3NjIifQ=="/>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4305</Words>
  <Application>WPS 演示</Application>
  <PresentationFormat>自定义</PresentationFormat>
  <Paragraphs>86</Paragraphs>
  <Slides>14</Slides>
  <Notes>36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14</vt:i4>
      </vt:variant>
    </vt:vector>
  </HeadingPairs>
  <TitlesOfParts>
    <vt:vector size="29" baseType="lpstr">
      <vt:lpstr>Arial</vt:lpstr>
      <vt:lpstr>宋体</vt:lpstr>
      <vt:lpstr>Wingdings</vt:lpstr>
      <vt:lpstr>微软雅黑</vt:lpstr>
      <vt:lpstr>Calibri</vt:lpstr>
      <vt:lpstr>Agency FB</vt:lpstr>
      <vt:lpstr>Trebuchet MS</vt:lpstr>
      <vt:lpstr>Gill Sans</vt:lpstr>
      <vt:lpstr>汉仪粗黑简</vt:lpstr>
      <vt:lpstr>黑体</vt:lpstr>
      <vt:lpstr>汉仪铸字童年体W</vt:lpstr>
      <vt:lpstr>Arial Unicode MS</vt:lpstr>
      <vt:lpstr>Calibri Light</vt:lpstr>
      <vt:lpstr>Segoe Print</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粉色淡雅蒲公英</dc:title>
  <dc:creator>第一PPT</dc:creator>
  <cp:keywords>www.1ppt.com</cp:keywords>
  <dc:description>www.1ppt.com</dc:description>
  <cp:lastModifiedBy>kidow</cp:lastModifiedBy>
  <cp:revision>68</cp:revision>
  <dcterms:created xsi:type="dcterms:W3CDTF">2017-01-06T05:23:00Z</dcterms:created>
  <dcterms:modified xsi:type="dcterms:W3CDTF">2024-03-24T12:38:21Z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0999C623CB0D40E68F026DC47546A767</vt:lpwstr>
  </property>
  <property fmtid="{D5CDD505-2E9C-101B-9397-08002B2CF9AE}" pid="3" name="KSOProductBuildVer">
    <vt:lpwstr>2052-12.1.0.16388</vt:lpwstr>
  </property>
</Properties>
</file>